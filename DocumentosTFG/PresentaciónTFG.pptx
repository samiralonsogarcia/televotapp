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7E333BF.xml" ContentType="application/vnd.ms-powerpoint.comments+xml"/>
  <Override PartName="/ppt/notesSlides/notesSlide1.xml" ContentType="application/vnd.openxmlformats-officedocument.presentationml.notesSlide+xml"/>
  <Override PartName="/ppt/comments/modernComment_100_40E90750.xml" ContentType="application/vnd.ms-powerpoint.comments+xml"/>
  <Override PartName="/ppt/notesSlides/notesSlide2.xml" ContentType="application/vnd.openxmlformats-officedocument.presentationml.notesSlide+xml"/>
  <Override PartName="/ppt/comments/modernComment_102_DEFDC8F4.xml" ContentType="application/vnd.ms-powerpoint.comments+xml"/>
  <Override PartName="/ppt/comments/modernComment_103_314DD278.xml" ContentType="application/vnd.ms-powerpoint.comments+xml"/>
  <Override PartName="/ppt/comments/modernComment_104_4380E98A.xml" ContentType="application/vnd.ms-powerpoint.comments+xml"/>
  <Override PartName="/ppt/comments/modernComment_105_FB75CE7E.xml" ContentType="application/vnd.ms-powerpoint.comments+xml"/>
  <Override PartName="/ppt/comments/modernComment_109_17BD686.xml" ContentType="application/vnd.ms-powerpoint.comments+xml"/>
  <Override PartName="/ppt/comments/modernComment_108_B89D4196.xml" ContentType="application/vnd.ms-powerpoint.comments+xml"/>
  <Override PartName="/ppt/comments/modernComment_107_1B726ACE.xml" ContentType="application/vnd.ms-powerpoint.comments+xml"/>
  <Override PartName="/ppt/comments/modernComment_10A_3C6B7EE4.xml" ContentType="application/vnd.ms-powerpoint.comments+xml"/>
  <Override PartName="/ppt/comments/modernComment_106_DBCE4C00.xml" ContentType="application/vnd.ms-powerpoint.comments+xml"/>
  <Override PartName="/ppt/comments/modernComment_10F_687EE0A8.xml" ContentType="application/vnd.ms-powerpoint.comments+xml"/>
  <Override PartName="/ppt/comments/modernComment_110_3FD3B5C.xml" ContentType="application/vnd.ms-powerpoint.comments+xml"/>
  <Override PartName="/ppt/comments/modernComment_10C_EEE271CF.xml" ContentType="application/vnd.ms-powerpoint.comments+xml"/>
  <Override PartName="/ppt/comments/modernComment_10B_3511115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6" r:id="rId3"/>
    <p:sldId id="258" r:id="rId4"/>
    <p:sldId id="259" r:id="rId5"/>
    <p:sldId id="260" r:id="rId6"/>
    <p:sldId id="261" r:id="rId7"/>
    <p:sldId id="265" r:id="rId8"/>
    <p:sldId id="264" r:id="rId9"/>
    <p:sldId id="263" r:id="rId10"/>
    <p:sldId id="270" r:id="rId11"/>
    <p:sldId id="266" r:id="rId12"/>
    <p:sldId id="262" r:id="rId13"/>
    <p:sldId id="271" r:id="rId14"/>
    <p:sldId id="272" r:id="rId15"/>
    <p:sldId id="268" r:id="rId16"/>
    <p:sldId id="267" r:id="rId17"/>
    <p:sldId id="269"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6F2EB9-8792-1B5E-E482-6287A72B49A3}" name="Samir Alonso García" initials="SA" userId="S::sag0048@alu.ubu.es::28c4dee6-1bdc-41ab-86f0-13cd605b5d5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F4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2" d="100"/>
          <a:sy n="102" d="100"/>
        </p:scale>
        <p:origin x="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A_3C6B7EE4.xml><?xml version="1.0" encoding="utf-8"?>
<p188:cmLst xmlns:a="http://schemas.openxmlformats.org/drawingml/2006/main" xmlns:r="http://schemas.openxmlformats.org/officeDocument/2006/relationships" xmlns:p188="http://schemas.microsoft.com/office/powerpoint/2018/8/main">
  <p188:cm id="{62F3073F-5546-436F-BDDD-46EB7FE09003}" authorId="{D46F2EB9-8792-1B5E-E482-6287A72B49A3}" created="2026-06-07T20:24:40.052">
    <pc:sldMkLst xmlns:pc="http://schemas.microsoft.com/office/powerpoint/2013/main/command">
      <pc:docMk/>
      <pc:sldMk cId="1013677796" sldId="266"/>
    </pc:sldMkLst>
    <p188:txBody>
      <a:bodyPr/>
      <a:lstStyle/>
      <a:p>
        <a:r>
          <a:rPr lang="es-ES"/>
          <a:t>La votación constituye el elemento central del sistema. Durante su configuración se definen los periodos del calendario electoral, se asocian los censos participantes, se registran las candidaturas y se asignan los distintos responsables que intervendrán en el proceso.</a:t>
        </a:r>
      </a:p>
    </p188:txBody>
  </p188:cm>
</p188:cmLst>
</file>

<file path=ppt/comments/modernComment_10B_35111151.xml><?xml version="1.0" encoding="utf-8"?>
<p188:cmLst xmlns:a="http://schemas.openxmlformats.org/drawingml/2006/main" xmlns:r="http://schemas.openxmlformats.org/officeDocument/2006/relationships" xmlns:p188="http://schemas.microsoft.com/office/powerpoint/2018/8/main">
  <p188:cm id="{70850700-C8A8-4649-999B-87934EF3659C}" authorId="{D46F2EB9-8792-1B5E-E482-6287A72B49A3}" created="2026-06-06T19:10:19.403">
    <pc:sldMkLst xmlns:pc="http://schemas.microsoft.com/office/powerpoint/2013/main/command">
      <pc:docMk/>
      <pc:sldMk cId="890310993" sldId="267"/>
    </pc:sldMkLst>
    <p188:txBody>
      <a:bodyPr/>
      <a:lstStyle/>
      <a:p>
        <a:r>
          <a:rPr lang="es-ES"/>
          <a:t>Como resultado de este trabajo se ha desarrollado TeleVotApp, una plataforma capaz de gestionar de forma integral un proceso electoral telemático certificado. El sistema incorpora gestión electoral, control de acceso basado en roles y mecanismos de autenticación y validación mediante certificados digitales, cumpliendo los objetivos planteados al inicio del proyecto.
Muchas gracias por su atención.</a:t>
        </a:r>
      </a:p>
    </p188:txBody>
  </p188:cm>
</p188:cmLst>
</file>

<file path=ppt/comments/modernComment_10C_EEE271CF.xml><?xml version="1.0" encoding="utf-8"?>
<p188:cmLst xmlns:a="http://schemas.openxmlformats.org/drawingml/2006/main" xmlns:r="http://schemas.openxmlformats.org/officeDocument/2006/relationships" xmlns:p188="http://schemas.microsoft.com/office/powerpoint/2018/8/main">
  <p188:cm id="{F9735575-55DB-4ABD-9FB5-4A3844B05323}" authorId="{D46F2EB9-8792-1B5E-E482-6287A72B49A3}" created="2026-06-06T18:57:50.801">
    <pc:sldMkLst xmlns:pc="http://schemas.microsoft.com/office/powerpoint/2013/main/command">
      <pc:docMk/>
      <pc:sldMk cId="4007817679" sldId="268"/>
    </pc:sldMkLst>
    <p188:txBody>
      <a:bodyPr/>
      <a:lstStyle/>
      <a:p>
        <a:r>
          <a:rPr lang="es-ES"/>
          <a:t>Aunque TeleVotApp cumple los objetivos planteados, existen aspectos susceptibles de mejora. Entre ellos destacan la integración con sistemas de identidad corporativos, la incorporación de mecanismos de auditoría externa, la realización de pruebas de escalabilidad y la adaptación a entornos de producción de mayor tamaño.</a:t>
        </a:r>
      </a:p>
    </p188:txBody>
  </p188:cm>
</p188:cmLst>
</file>

<file path=ppt/comments/modernComment_10F_687EE0A8.xml><?xml version="1.0" encoding="utf-8"?>
<p188:cmLst xmlns:a="http://schemas.openxmlformats.org/drawingml/2006/main" xmlns:r="http://schemas.openxmlformats.org/officeDocument/2006/relationships" xmlns:p188="http://schemas.microsoft.com/office/powerpoint/2018/8/main">
  <p188:cm id="{697D629B-86C2-4A2D-B1FA-2BBEC1B35DD1}" authorId="{D46F2EB9-8792-1B5E-E482-6287A72B49A3}" created="2026-06-10T21:19:01.275">
    <pc:sldMkLst xmlns:pc="http://schemas.microsoft.com/office/powerpoint/2013/main/command">
      <pc:docMk/>
      <pc:sldMk cId="1753145512" sldId="271"/>
    </pc:sldMkLst>
    <p188:txBody>
      <a:bodyPr/>
      <a:lstStyle/>
      <a:p>
        <a:r>
          <a:rPr lang="es-ES"/>
          <a:t>El usuario previamente a una votación configura su certificado para poder acceder a la votación seleccionada en la que puede participar. Después elige la candidatura a la cual quiere votar y firma y envía su voto</a:t>
        </a:r>
      </a:p>
    </p188:txBody>
  </p188:cm>
</p188:cmLst>
</file>

<file path=ppt/comments/modernComment_100_40E90750.xml><?xml version="1.0" encoding="utf-8"?>
<p188:cmLst xmlns:a="http://schemas.openxmlformats.org/drawingml/2006/main" xmlns:r="http://schemas.openxmlformats.org/officeDocument/2006/relationships" xmlns:p188="http://schemas.microsoft.com/office/powerpoint/2018/8/main">
  <p188:cm id="{BBA0C8E9-29E8-4608-A981-0B2FF668FE63}" authorId="{D46F2EB9-8792-1B5E-E482-6287A72B49A3}" created="2026-06-05T19:15:45.356">
    <pc:sldMkLst xmlns:pc="http://schemas.microsoft.com/office/powerpoint/2013/main/command">
      <pc:docMk/>
      <pc:sldMk cId="1089013584" sldId="256"/>
    </pc:sldMkLst>
    <p188:txBody>
      <a:bodyPr/>
      <a:lstStyle/>
      <a:p>
        <a:r>
          <a:rPr lang="es-ES"/>
          <a:t>La idea del proyecto surge tras analizar la problemática existente en procesos electorales universitarios. Las soluciones disponibles suelen depender de proveedores externos y presentan costes o limitaciones de adaptación. A partir de esta necesidad se plantea TeleVotApp, una solución propia orientada a gestionar el proceso electoral completo, incorporando mecanismos de control, trazabilidad y seguridad.</a:t>
        </a:r>
      </a:p>
    </p188:txBody>
  </p188:cm>
</p188:cmLst>
</file>

<file path=ppt/comments/modernComment_101_7E333BF.xml><?xml version="1.0" encoding="utf-8"?>
<p188:cmLst xmlns:a="http://schemas.openxmlformats.org/drawingml/2006/main" xmlns:r="http://schemas.openxmlformats.org/officeDocument/2006/relationships" xmlns:p188="http://schemas.microsoft.com/office/powerpoint/2018/8/main">
  <p188:cm id="{83A97283-1F97-4F63-B410-7B7D4D4180EA}" authorId="{D46F2EB9-8792-1B5E-E482-6287A72B49A3}" created="2026-06-05T19:14:24.629">
    <pc:sldMkLst xmlns:pc="http://schemas.microsoft.com/office/powerpoint/2013/main/command">
      <pc:docMk/>
      <pc:sldMk cId="132330431" sldId="257"/>
    </pc:sldMkLst>
    <p188:txBody>
      <a:bodyPr/>
      <a:lstStyle/>
      <a:p>
        <a:r>
          <a:rPr lang="es-ES"/>
          <a:t>TeleVotApp es una aplicación web orientada a la gestión integral de procesos electorales telemáticos.</a:t>
        </a:r>
      </a:p>
    </p188:txBody>
  </p188:cm>
</p188:cmLst>
</file>

<file path=ppt/comments/modernComment_102_DEFDC8F4.xml><?xml version="1.0" encoding="utf-8"?>
<p188:cmLst xmlns:a="http://schemas.openxmlformats.org/drawingml/2006/main" xmlns:r="http://schemas.openxmlformats.org/officeDocument/2006/relationships" xmlns:p188="http://schemas.microsoft.com/office/powerpoint/2018/8/main">
  <p188:cm id="{773FD9B7-B17F-4553-96E0-5B0F0176FFD4}" authorId="{D46F2EB9-8792-1B5E-E482-6287A72B49A3}" created="2026-06-05T20:01:09.859">
    <pc:sldMkLst xmlns:pc="http://schemas.microsoft.com/office/powerpoint/2013/main/command">
      <pc:docMk/>
      <pc:sldMk cId="3741174004" sldId="258"/>
    </pc:sldMkLst>
    <p188:txBody>
      <a:bodyPr/>
      <a:lstStyle/>
      <a:p>
        <a:r>
          <a:rPr lang="es-ES"/>
          <a:t>Los objetivos del proyecto pueden resumirse en cuatro bloques principales. En primer lugar, gestionar el ciclo electoral completo. En segundo lugar, garantizar la seguridad del proceso mediante certificados y mecanismos criptográficos. Además, se definió un modelo de control de acceso basado en roles especializados. Finalmente, se buscó asegurar la trazabilidad de las operaciones realizadas durante el proceso electoral.</a:t>
        </a:r>
      </a:p>
    </p188:txBody>
  </p188:cm>
</p188:cmLst>
</file>

<file path=ppt/comments/modernComment_103_314DD278.xml><?xml version="1.0" encoding="utf-8"?>
<p188:cmLst xmlns:a="http://schemas.openxmlformats.org/drawingml/2006/main" xmlns:r="http://schemas.openxmlformats.org/officeDocument/2006/relationships" xmlns:p188="http://schemas.microsoft.com/office/powerpoint/2018/8/main">
  <p188:cm id="{CC121E85-C431-4C8F-A599-E9FBB481FBAD}" authorId="{D46F2EB9-8792-1B5E-E482-6287A72B49A3}" created="2026-06-06T10:17:31.100">
    <pc:sldMkLst xmlns:pc="http://schemas.microsoft.com/office/powerpoint/2013/main/command">
      <pc:docMk/>
      <pc:sldMk cId="827183736" sldId="259"/>
    </pc:sldMkLst>
    <p188:txBody>
      <a:bodyPr/>
      <a:lstStyle/>
      <a:p>
        <a:r>
          <a:rPr lang="es-ES"/>
          <a:t>Uno de los objetivos principales era gestionar el ciclo electoral completo. El proceso comienza con la publicación del censo y su periodo de alegaciones. Posteriormente se registran las candidaturas y se desarrolla la campaña electoral. Una vez constituida la mesa electoral se habilita la fase de votación. Finalmente se realiza el recuento y la publicación de resultados. De esta forma, la aplicación no se limita a la emisión del voto, sino que cubre todas las fases necesarias para la gestión de un proceso electoral.</a:t>
        </a:r>
      </a:p>
    </p188:txBody>
  </p188:cm>
</p188:cmLst>
</file>

<file path=ppt/comments/modernComment_104_4380E98A.xml><?xml version="1.0" encoding="utf-8"?>
<p188:cmLst xmlns:a="http://schemas.openxmlformats.org/drawingml/2006/main" xmlns:r="http://schemas.openxmlformats.org/officeDocument/2006/relationships" xmlns:p188="http://schemas.microsoft.com/office/powerpoint/2018/8/main">
  <p188:cm id="{170B97D5-F090-4E0E-B29D-E885634B524D}" authorId="{D46F2EB9-8792-1B5E-E482-6287A72B49A3}" created="2026-06-06T10:16:14.756">
    <pc:sldMkLst xmlns:pc="http://schemas.microsoft.com/office/powerpoint/2013/main/command">
      <pc:docMk/>
      <pc:sldMk cId="1132521866" sldId="260"/>
    </pc:sldMkLst>
    <p188:txBody>
      <a:bodyPr/>
      <a:lstStyle/>
      <a:p>
        <a:r>
          <a:rPr lang="es-ES"/>
          <a:t>A nivel técnico, TeleVotApp se organiza como una aplicación web basada en Django. La interfaz se construye mediante plantillas web, mientras que la lógica principal se concentra en las vistas, modelos, formularios y permisos. La información del proceso electoral se almacena en base de datos, y las operaciones sensibles, como firma, cifrado y validación, se apoyan en certificados digitales. Esta separación permite mantener una arquitectura clara y facilita la evolución posterior del sistema.</a:t>
        </a:r>
      </a:p>
    </p188:txBody>
  </p188:cm>
</p188:cmLst>
</file>

<file path=ppt/comments/modernComment_105_FB75CE7E.xml><?xml version="1.0" encoding="utf-8"?>
<p188:cmLst xmlns:a="http://schemas.openxmlformats.org/drawingml/2006/main" xmlns:r="http://schemas.openxmlformats.org/officeDocument/2006/relationships" xmlns:p188="http://schemas.microsoft.com/office/powerpoint/2018/8/main">
  <p188:cm id="{0CF12D5E-5FDF-4A68-87A7-40A4FD8A8509}" authorId="{D46F2EB9-8792-1B5E-E482-6287A72B49A3}" created="2026-06-06T10:31:46.911">
    <pc:sldMkLst xmlns:pc="http://schemas.microsoft.com/office/powerpoint/2013/main/command">
      <pc:docMk/>
      <pc:sldMk cId="4218801790" sldId="261"/>
    </pc:sldMkLst>
    <p188:txBody>
      <a:bodyPr/>
      <a:lstStyle/>
      <a:p>
        <a:r>
          <a:rPr lang="es-ES"/>
          <a:t>TeleVotApp implementa un modelo de control de acceso basado en roles. Cada perfil dispone únicamente de los permisos necesarios para desempeñar sus funciones dentro del proceso electoral, garantizando la separación de responsabilidades y reduciendo el riesgo de acciones no autorizadas.</a:t>
        </a:r>
      </a:p>
    </p188:txBody>
  </p188:cm>
</p188:cmLst>
</file>

<file path=ppt/comments/modernComment_106_DBCE4C00.xml><?xml version="1.0" encoding="utf-8"?>
<p188:cmLst xmlns:a="http://schemas.openxmlformats.org/drawingml/2006/main" xmlns:r="http://schemas.openxmlformats.org/officeDocument/2006/relationships" xmlns:p188="http://schemas.microsoft.com/office/powerpoint/2018/8/main">
  <p188:cm id="{E7AA6466-D354-4659-9029-19A0C429FA12}" authorId="{D46F2EB9-8792-1B5E-E482-6287A72B49A3}" created="2026-06-06T18:33:26.106">
    <pc:sldMkLst xmlns:pc="http://schemas.microsoft.com/office/powerpoint/2013/main/command">
      <pc:docMk/>
      <pc:sldMk cId="3687730176" sldId="262"/>
    </pc:sldMkLst>
    <p188:txBody>
      <a:bodyPr/>
      <a:lstStyle/>
      <a:p>
        <a:r>
          <a:rPr lang="es-ES"/>
          <a:t>TeleVotApp implementa un modelo de acceso basado en roles. Cada usuario accede únicamente a las funciones correspondientes a sus responsabilidades dentro del proceso electoral. Como puede observarse, la interfaz y las operaciones disponibles cambian según se trate de un administrador, una Junta Electoral, una Mesa Electoral, un Director de Campaña o un Elector.</a:t>
        </a:r>
      </a:p>
    </p188:txBody>
  </p188:cm>
</p188:cmLst>
</file>

<file path=ppt/comments/modernComment_107_1B726ACE.xml><?xml version="1.0" encoding="utf-8"?>
<p188:cmLst xmlns:a="http://schemas.openxmlformats.org/drawingml/2006/main" xmlns:r="http://schemas.openxmlformats.org/officeDocument/2006/relationships" xmlns:p188="http://schemas.microsoft.com/office/powerpoint/2018/8/main">
  <p188:cm id="{9DB5AD66-1454-4463-83C3-A232819BBBF1}" authorId="{D46F2EB9-8792-1B5E-E482-6287A72B49A3}" created="2026-06-06T17:58:49.503">
    <pc:sldMkLst xmlns:pc="http://schemas.microsoft.com/office/powerpoint/2013/main/command">
      <pc:docMk/>
      <pc:sldMk cId="460483278" sldId="263"/>
    </pc:sldMkLst>
    <p188:txBody>
      <a:bodyPr/>
      <a:lstStyle/>
      <a:p>
        <a:r>
          <a:rPr lang="es-ES"/>
          <a:t>El sistema se ha desarrollado principalmente en Python utilizando Django como framework web. La interfaz se construye mediante Bootstrap sobre tecnologías HTML, CSS y JavaScript. Para la persistencia de datos se utiliza PostgreSQL y, en el ámbito de la seguridad, se emplean certificados X.509 para las funciones de firma y validación.</a:t>
        </a:r>
      </a:p>
    </p188:txBody>
  </p188:cm>
</p188:cmLst>
</file>

<file path=ppt/comments/modernComment_108_B89D4196.xml><?xml version="1.0" encoding="utf-8"?>
<p188:cmLst xmlns:a="http://schemas.openxmlformats.org/drawingml/2006/main" xmlns:r="http://schemas.openxmlformats.org/officeDocument/2006/relationships" xmlns:p188="http://schemas.microsoft.com/office/powerpoint/2018/8/main">
  <p188:cm id="{18A787C8-413D-4755-B4E6-E64EC5ED8096}" authorId="{D46F2EB9-8792-1B5E-E482-6287A72B49A3}" created="2026-06-06T12:09:00.629">
    <pc:sldMkLst xmlns:pc="http://schemas.microsoft.com/office/powerpoint/2013/main/command">
      <pc:docMk/>
      <pc:sldMk cId="3097313686" sldId="264"/>
    </pc:sldMkLst>
    <p188:txBody>
      <a:bodyPr/>
      <a:lstStyle/>
      <a:p>
        <a:r>
          <a:rPr lang="es-ES"/>
          <a:t>El modelo de datos se articula alrededor de la votación como entidad principal. Sobre ella se relacionan el censo de participantes, las candidaturas presentadas y los órganos responsables del proceso, representados por la Junta y la Mesa Electoral. Durante la fase de votación se registran los votos emitidos y, posteriormente, se generan los resultados.</a:t>
        </a:r>
      </a:p>
    </p188:txBody>
  </p188:cm>
</p188:cmLst>
</file>

<file path=ppt/comments/modernComment_109_17BD686.xml><?xml version="1.0" encoding="utf-8"?>
<p188:cmLst xmlns:a="http://schemas.openxmlformats.org/drawingml/2006/main" xmlns:r="http://schemas.openxmlformats.org/officeDocument/2006/relationships" xmlns:p188="http://schemas.microsoft.com/office/powerpoint/2018/8/main">
  <p188:cm id="{AF7C5CE4-8EF8-4313-9FA1-31A6B09E286E}" authorId="{D46F2EB9-8792-1B5E-E482-6287A72B49A3}" created="2026-06-06T11:33:20.033">
    <pc:sldMkLst xmlns:pc="http://schemas.microsoft.com/office/powerpoint/2013/main/command">
      <pc:docMk/>
      <pc:sldMk cId="24893062" sldId="265"/>
    </pc:sldMkLst>
    <p188:txBody>
      <a:bodyPr/>
      <a:lstStyle/>
      <a:p>
        <a:r>
          <a:rPr lang="es-ES"/>
          <a:t>TeleVotApp incorpora mecanismos de autenticación, firma y validación basados en certificados digitales para proteger el proceso electoral. 
El sistema verifica la identidad de los usuarios antes de permitir cualquier operación dentro del proceso electoral.
Los certificados permiten  garantizar la procedencia en determinadas operaciones críticas.
Los mecanismos de validación permiten verificar que la información no ha sido alterada durante el proceso.</a:t>
        </a:r>
      </a:p>
    </p188:txBody>
  </p188:cm>
</p188:cmLst>
</file>

<file path=ppt/comments/modernComment_110_3FD3B5C.xml><?xml version="1.0" encoding="utf-8"?>
<p188:cmLst xmlns:a="http://schemas.openxmlformats.org/drawingml/2006/main" xmlns:r="http://schemas.openxmlformats.org/officeDocument/2006/relationships" xmlns:p188="http://schemas.microsoft.com/office/powerpoint/2018/8/main">
  <p188:cm id="{E297E20B-3E96-4486-AD97-77BF88A36A3A}" authorId="{D46F2EB9-8792-1B5E-E482-6287A72B49A3}" created="2026-06-06T18:45:45.837">
    <pc:sldMkLst xmlns:pc="http://schemas.microsoft.com/office/powerpoint/2013/main/command">
      <pc:docMk/>
      <pc:sldMk cId="66927452" sldId="272"/>
    </pc:sldMkLst>
    <p188:txBody>
      <a:bodyPr/>
      <a:lstStyle/>
      <a:p>
        <a:r>
          <a:rPr lang="es-ES"/>
          <a:t>Una vez finalizada la votación, la Mesa Electoral es responsable de realizar el recuento. Para ello se emplea el certificado asociado a la mesa, garantizando que únicamente los miembros autorizados puedan ejecutar esta operación. Tras el recuento, el sistema genera automáticamente los resultados y permite su posterior publicación y consulta.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3DA4F-E9E2-486B-9E28-2A3AE3321793}" type="datetimeFigureOut">
              <a:rPr lang="es-ES" smtClean="0"/>
              <a:t>11/06/2026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89378-9B4E-4C33-B549-009413E6F385}" type="slidenum">
              <a:rPr lang="es-ES" smtClean="0"/>
              <a:t>‹Nº›</a:t>
            </a:fld>
            <a:endParaRPr lang="es-ES"/>
          </a:p>
        </p:txBody>
      </p:sp>
    </p:spTree>
    <p:extLst>
      <p:ext uri="{BB962C8B-B14F-4D97-AF65-F5344CB8AC3E}">
        <p14:creationId xmlns:p14="http://schemas.microsoft.com/office/powerpoint/2010/main" val="3882083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F9289378-9B4E-4C33-B549-009413E6F385}" type="slidenum">
              <a:rPr lang="es-ES" smtClean="0"/>
              <a:t>2</a:t>
            </a:fld>
            <a:endParaRPr lang="es-ES"/>
          </a:p>
        </p:txBody>
      </p:sp>
    </p:spTree>
    <p:extLst>
      <p:ext uri="{BB962C8B-B14F-4D97-AF65-F5344CB8AC3E}">
        <p14:creationId xmlns:p14="http://schemas.microsoft.com/office/powerpoint/2010/main" val="3827085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F9289378-9B4E-4C33-B549-009413E6F385}" type="slidenum">
              <a:rPr lang="es-ES" smtClean="0"/>
              <a:t>3</a:t>
            </a:fld>
            <a:endParaRPr lang="es-ES"/>
          </a:p>
        </p:txBody>
      </p:sp>
    </p:spTree>
    <p:extLst>
      <p:ext uri="{BB962C8B-B14F-4D97-AF65-F5344CB8AC3E}">
        <p14:creationId xmlns:p14="http://schemas.microsoft.com/office/powerpoint/2010/main" val="2387330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2BECA8-5A38-A5CA-0EE9-272F9AF93AC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EBC0A9AE-7CBA-0D7A-58E1-CD21823787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683F220-C7C3-8A07-2FF4-B56AACC1A22C}"/>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550D1247-DD9F-F080-F02E-36E4B38C716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5D32AA9-BF6E-DA81-EDEB-D146EE5E23EB}"/>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2449930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330C75-C735-9367-F21C-83D5BA7E67F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273516E-692E-BD1F-7DEB-9BFE19DB18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D6A8A11-D282-5865-733C-95E2440255E7}"/>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5BAF969A-CE65-BC96-0942-95496E4E945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B6DC9A2-5FB2-892F-6843-606C82F4B3DF}"/>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1544761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C91FDF-67DD-E290-838C-1D851BC6DCA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0E2F8637-53B3-E25B-8A34-45AF9D39A1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6E9CEA-4CAB-6E9B-1C10-441FB821C1F3}"/>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C1C46D88-F39E-7208-A9DD-E44E9FCB886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DAA0E38-5A0E-07E1-38B5-8E617AFE5C06}"/>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1544846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57A83-6168-D59B-3CEA-6ABDFE966CA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0D21B4E-367B-87C5-F723-8C145B54C21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E06023A9-99B0-9356-B8B3-CE6A64727D9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1ED3E74-7281-FBD0-F326-FAF6BFC0E88D}"/>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6" name="Marcador de pie de página 5">
            <a:extLst>
              <a:ext uri="{FF2B5EF4-FFF2-40B4-BE49-F238E27FC236}">
                <a16:creationId xmlns:a16="http://schemas.microsoft.com/office/drawing/2014/main" id="{39F72362-0128-5959-3F89-0B7093B1A1E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DC7AA1B-1A68-8CB4-4C07-B675B5AF9A2C}"/>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3274125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65678-DC61-4B81-7649-70B33806403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AAA5DA4-A267-50F7-D832-CBF97AF1DB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F34853-9584-DC9E-D1D8-600328856CA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16D8A8A-C849-274D-97EA-83FF8E3727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EDDAE9D-401C-3405-CD62-D506ABBFDCD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E1A0E03-24D4-3450-49CE-DD8DA3081F68}"/>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8" name="Marcador de pie de página 7">
            <a:extLst>
              <a:ext uri="{FF2B5EF4-FFF2-40B4-BE49-F238E27FC236}">
                <a16:creationId xmlns:a16="http://schemas.microsoft.com/office/drawing/2014/main" id="{955F17AC-6632-D1A6-F1BC-B9B362FA2E9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35ED976-763F-C102-0903-BC78F7874B27}"/>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2045984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3D1BAA-8594-2CA3-3E1E-839E5D882C5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376B2EA-B0F1-A81B-142D-D2B40E8F416B}"/>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4" name="Marcador de pie de página 3">
            <a:extLst>
              <a:ext uri="{FF2B5EF4-FFF2-40B4-BE49-F238E27FC236}">
                <a16:creationId xmlns:a16="http://schemas.microsoft.com/office/drawing/2014/main" id="{F2DBABB8-7C7D-B4D4-4FB3-E6D818586292}"/>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E081307-AC09-8639-83AF-145261E749E4}"/>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2374478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93D7C93-4FF1-AA3C-47C2-14AF602C3BEC}"/>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3" name="Marcador de pie de página 2">
            <a:extLst>
              <a:ext uri="{FF2B5EF4-FFF2-40B4-BE49-F238E27FC236}">
                <a16:creationId xmlns:a16="http://schemas.microsoft.com/office/drawing/2014/main" id="{9ABD5040-B6F3-68AC-66D7-4DB090EA72A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772E1BB-38C3-66F0-5945-0F54D6145DF3}"/>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137044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102507-3ACB-A8A1-271D-90D3ED65F1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E6BD05D-19BD-2BBC-3E95-ED31560CC8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BD534DC-B060-0676-D1C4-6E4E08A61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C0370BF-F2EA-2410-CC08-F29EF7943F49}"/>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6" name="Marcador de pie de página 5">
            <a:extLst>
              <a:ext uri="{FF2B5EF4-FFF2-40B4-BE49-F238E27FC236}">
                <a16:creationId xmlns:a16="http://schemas.microsoft.com/office/drawing/2014/main" id="{17440B55-E4D3-7670-DC78-65D910B118D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87BCAC7-5856-0E02-8776-28CE0ACE59EA}"/>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757394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D6922-EFCE-CA52-6E71-6C0985F6AB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612CE50A-2B00-5FB8-3D91-3C1AC6A215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3B47B10-B754-CFC3-EC74-22A21205A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DF977DE-6E1E-561E-AAB3-D8908AE5D923}"/>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6" name="Marcador de pie de página 5">
            <a:extLst>
              <a:ext uri="{FF2B5EF4-FFF2-40B4-BE49-F238E27FC236}">
                <a16:creationId xmlns:a16="http://schemas.microsoft.com/office/drawing/2014/main" id="{F659C8FB-2FD3-84C3-CF86-F85154FA5DC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C62471A-1D35-156D-7103-2FE1AA38FADF}"/>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349626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01C19-3D4B-4AA7-5B0D-2CD53BF9B12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9C52235-C633-B356-AB2D-EFC0B33C97E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0AEF2E4-43CF-7F90-70CD-2B702A6AB19F}"/>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9AA6AB8B-A839-5374-4794-9116049A20E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F97037D-F230-0038-04B3-80891F5B3530}"/>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191185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090762-B119-63B8-F356-80DFA1C6FD1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5A788DC-E71E-9130-325F-DC5D1CE8BA2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BF79207-B408-2670-A6C2-101018BC728D}"/>
              </a:ext>
            </a:extLst>
          </p:cNvPr>
          <p:cNvSpPr>
            <a:spLocks noGrp="1"/>
          </p:cNvSpPr>
          <p:nvPr>
            <p:ph type="dt" sz="half" idx="10"/>
          </p:nvPr>
        </p:nvSpPr>
        <p:spPr/>
        <p:txBody>
          <a:body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E42E9DBA-BE3C-BBF8-D837-80F9DC5E5CE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2BA02DF-3021-ECFF-4A6F-2361AF759FD5}"/>
              </a:ext>
            </a:extLst>
          </p:cNvPr>
          <p:cNvSpPr>
            <a:spLocks noGrp="1"/>
          </p:cNvSpPr>
          <p:nvPr>
            <p:ph type="sldNum" sz="quarter" idx="12"/>
          </p:nvPr>
        </p:nvSpPr>
        <p:spPr/>
        <p:txBody>
          <a:bodyPr/>
          <a:lstStyle/>
          <a:p>
            <a:fld id="{926BEC57-AA94-4D4A-A052-B4A55A7B91DE}" type="slidenum">
              <a:rPr lang="es-ES" smtClean="0"/>
              <a:t>‹Nº›</a:t>
            </a:fld>
            <a:endParaRPr lang="es-ES"/>
          </a:p>
        </p:txBody>
      </p:sp>
    </p:spTree>
    <p:extLst>
      <p:ext uri="{BB962C8B-B14F-4D97-AF65-F5344CB8AC3E}">
        <p14:creationId xmlns:p14="http://schemas.microsoft.com/office/powerpoint/2010/main" val="2106433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554586-AAE5-C9A0-AFAC-43CFB0A113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4B804D8-2544-D1B7-68A4-76F5A66306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C1C8440-F542-052C-2336-E3B449A71B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82298D-10ED-4CEA-ABC9-062C01423615}" type="datetimeFigureOut">
              <a:rPr lang="es-ES" smtClean="0"/>
              <a:t>11/06/2026</a:t>
            </a:fld>
            <a:endParaRPr lang="es-ES"/>
          </a:p>
        </p:txBody>
      </p:sp>
      <p:sp>
        <p:nvSpPr>
          <p:cNvPr id="5" name="Marcador de pie de página 4">
            <a:extLst>
              <a:ext uri="{FF2B5EF4-FFF2-40B4-BE49-F238E27FC236}">
                <a16:creationId xmlns:a16="http://schemas.microsoft.com/office/drawing/2014/main" id="{F4EB249B-BC44-495B-73E2-C929E32A00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4AF4E96D-9D6B-312A-3F65-4671A052E7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6BEC57-AA94-4D4A-A052-B4A55A7B91DE}" type="slidenum">
              <a:rPr lang="es-ES" smtClean="0"/>
              <a:t>‹Nº›</a:t>
            </a:fld>
            <a:endParaRPr lang="es-ES"/>
          </a:p>
        </p:txBody>
      </p:sp>
    </p:spTree>
    <p:extLst>
      <p:ext uri="{BB962C8B-B14F-4D97-AF65-F5344CB8AC3E}">
        <p14:creationId xmlns:p14="http://schemas.microsoft.com/office/powerpoint/2010/main" val="42470294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1_7E333BF.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0_40E9075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DEFDC8F4.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3_314DD278.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4380E98A.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5_FB75CE7E.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microsoft.com/office/2018/10/relationships/comments" Target="../comments/modernComment_109_17BD686.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2" Type="http://schemas.microsoft.com/office/2018/10/relationships/comments" Target="../comments/modernComment_108_B89D419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6.svg"/><Relationship Id="rId2" Type="http://schemas.microsoft.com/office/2018/10/relationships/comments" Target="../comments/modernComment_107_1B726ACE.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0A_3C6B7EE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8/10/relationships/comments" Target="../comments/modernComment_106_DBCE4C0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10F_687EE0A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10_3FD3B5C.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microsoft.com/office/2018/10/relationships/comments" Target="../comments/modernComment_10C_EEE271CF.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microsoft.com/office/2018/10/relationships/comments" Target="../comments/modernComment_10B_3511115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nterfaz de usuario gráfica, Texto&#10;&#10;Descripción generada automáticamente con confianza media">
            <a:extLst>
              <a:ext uri="{FF2B5EF4-FFF2-40B4-BE49-F238E27FC236}">
                <a16:creationId xmlns:a16="http://schemas.microsoft.com/office/drawing/2014/main" id="{C033432A-29A8-DBA3-2FD7-A620F50B60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2548" y="2088811"/>
            <a:ext cx="5400040" cy="1184275"/>
          </a:xfrm>
          <a:prstGeom prst="rect">
            <a:avLst/>
          </a:prstGeom>
          <a:noFill/>
          <a:ln>
            <a:noFill/>
          </a:ln>
        </p:spPr>
      </p:pic>
      <p:sp>
        <p:nvSpPr>
          <p:cNvPr id="6" name="Título 1">
            <a:extLst>
              <a:ext uri="{FF2B5EF4-FFF2-40B4-BE49-F238E27FC236}">
                <a16:creationId xmlns:a16="http://schemas.microsoft.com/office/drawing/2014/main" id="{C7E35A80-03CC-470B-1046-583051B374A1}"/>
              </a:ext>
            </a:extLst>
          </p:cNvPr>
          <p:cNvSpPr txBox="1">
            <a:spLocks/>
          </p:cNvSpPr>
          <p:nvPr/>
        </p:nvSpPr>
        <p:spPr>
          <a:xfrm>
            <a:off x="1577340" y="492520"/>
            <a:ext cx="9144000" cy="784194"/>
          </a:xfrm>
          <a:prstGeom prst="rect">
            <a:avLst/>
          </a:prstGeom>
          <a:solidFill>
            <a:srgbClr val="1F4E79"/>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6000" dirty="0">
                <a:solidFill>
                  <a:schemeClr val="bg1"/>
                </a:solidFill>
              </a:rPr>
              <a:t>TeleVot App</a:t>
            </a:r>
          </a:p>
        </p:txBody>
      </p:sp>
      <p:sp>
        <p:nvSpPr>
          <p:cNvPr id="7" name="CuadroTexto 6">
            <a:extLst>
              <a:ext uri="{FF2B5EF4-FFF2-40B4-BE49-F238E27FC236}">
                <a16:creationId xmlns:a16="http://schemas.microsoft.com/office/drawing/2014/main" id="{DC8F34F7-5150-FC10-74A1-D40E54DA39A1}"/>
              </a:ext>
            </a:extLst>
          </p:cNvPr>
          <p:cNvSpPr txBox="1"/>
          <p:nvPr/>
        </p:nvSpPr>
        <p:spPr>
          <a:xfrm>
            <a:off x="6290259" y="3584915"/>
            <a:ext cx="5183556" cy="1384995"/>
          </a:xfrm>
          <a:prstGeom prst="rect">
            <a:avLst/>
          </a:prstGeom>
          <a:noFill/>
        </p:spPr>
        <p:txBody>
          <a:bodyPr wrap="square" rtlCol="0">
            <a:spAutoFit/>
          </a:bodyPr>
          <a:lstStyle/>
          <a:p>
            <a:r>
              <a:rPr lang="es-ES" sz="1400" dirty="0"/>
              <a:t>Trabajo Fin de Grado</a:t>
            </a:r>
          </a:p>
          <a:p>
            <a:r>
              <a:rPr lang="es-ES" sz="1400" dirty="0"/>
              <a:t>Ingeniería Informática</a:t>
            </a:r>
          </a:p>
          <a:p>
            <a:endParaRPr lang="es-ES" sz="1400" dirty="0"/>
          </a:p>
          <a:p>
            <a:r>
              <a:rPr lang="es-ES" sz="1400" b="1" dirty="0"/>
              <a:t>Autor:</a:t>
            </a:r>
            <a:r>
              <a:rPr lang="es-ES" sz="1400" dirty="0"/>
              <a:t> Samir Alonso García</a:t>
            </a:r>
          </a:p>
          <a:p>
            <a:endParaRPr lang="es-ES" sz="1400" dirty="0"/>
          </a:p>
          <a:p>
            <a:r>
              <a:rPr lang="es-ES" sz="1400" b="1" dirty="0"/>
              <a:t>Tutor:</a:t>
            </a:r>
            <a:r>
              <a:rPr lang="es-ES" sz="1400" dirty="0"/>
              <a:t> Carlos Pardo Aguilar</a:t>
            </a:r>
          </a:p>
        </p:txBody>
      </p:sp>
      <p:sp>
        <p:nvSpPr>
          <p:cNvPr id="8" name="Marcador de pie de página 7">
            <a:extLst>
              <a:ext uri="{FF2B5EF4-FFF2-40B4-BE49-F238E27FC236}">
                <a16:creationId xmlns:a16="http://schemas.microsoft.com/office/drawing/2014/main" id="{4F67B327-1699-90CF-B942-77A2065D024E}"/>
              </a:ext>
            </a:extLst>
          </p:cNvPr>
          <p:cNvSpPr>
            <a:spLocks noGrp="1"/>
          </p:cNvSpPr>
          <p:nvPr>
            <p:ph type="ftr" sz="quarter" idx="11"/>
          </p:nvPr>
        </p:nvSpPr>
        <p:spPr>
          <a:xfrm>
            <a:off x="2414016" y="6356350"/>
            <a:ext cx="7470648" cy="365125"/>
          </a:xfrm>
        </p:spPr>
        <p:txBody>
          <a:bodyPr/>
          <a:lstStyle/>
          <a:p>
            <a:r>
              <a:rPr lang="es-ES" dirty="0"/>
              <a:t>Universidad de Burgos           Junio 2026</a:t>
            </a:r>
          </a:p>
        </p:txBody>
      </p:sp>
      <p:sp>
        <p:nvSpPr>
          <p:cNvPr id="9" name="Subtítulo 2">
            <a:extLst>
              <a:ext uri="{FF2B5EF4-FFF2-40B4-BE49-F238E27FC236}">
                <a16:creationId xmlns:a16="http://schemas.microsoft.com/office/drawing/2014/main" id="{6F9C439D-F8D9-9510-1276-AD977E8B6403}"/>
              </a:ext>
            </a:extLst>
          </p:cNvPr>
          <p:cNvSpPr txBox="1">
            <a:spLocks/>
          </p:cNvSpPr>
          <p:nvPr/>
        </p:nvSpPr>
        <p:spPr>
          <a:xfrm>
            <a:off x="4175298" y="1387040"/>
            <a:ext cx="9144000" cy="2231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600" dirty="0">
                <a:latin typeface="Aptos" panose="020B0004020202020204" pitchFamily="34" charset="0"/>
              </a:rPr>
              <a:t>Sistema de Votación Telemática Certificada</a:t>
            </a:r>
          </a:p>
        </p:txBody>
      </p:sp>
      <p:pic>
        <p:nvPicPr>
          <p:cNvPr id="11" name="Imagen 10">
            <a:extLst>
              <a:ext uri="{FF2B5EF4-FFF2-40B4-BE49-F238E27FC236}">
                <a16:creationId xmlns:a16="http://schemas.microsoft.com/office/drawing/2014/main" id="{6CBBEF73-7F43-54D6-8D68-A9532456EA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9888" y="1383707"/>
            <a:ext cx="2831130" cy="2831130"/>
          </a:xfrm>
          <a:prstGeom prst="rect">
            <a:avLst/>
          </a:prstGeom>
        </p:spPr>
      </p:pic>
    </p:spTree>
    <p:extLst>
      <p:ext uri="{BB962C8B-B14F-4D97-AF65-F5344CB8AC3E}">
        <p14:creationId xmlns:p14="http://schemas.microsoft.com/office/powerpoint/2010/main" val="13233043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307D21-5F1F-32D4-07FC-7D0BE9C6BF67}"/>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MOTIVACIÓN Y PROBLEMA</a:t>
            </a:r>
          </a:p>
        </p:txBody>
      </p:sp>
      <p:sp>
        <p:nvSpPr>
          <p:cNvPr id="3" name="Subtítulo 2">
            <a:extLst>
              <a:ext uri="{FF2B5EF4-FFF2-40B4-BE49-F238E27FC236}">
                <a16:creationId xmlns:a16="http://schemas.microsoft.com/office/drawing/2014/main" id="{525EB2AA-B4FF-DFCC-0AFC-F57579EBBD4B}"/>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1172C774-B4CB-BB8A-CD15-FDEF366D709C}"/>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2</a:t>
            </a:fld>
            <a:endParaRPr lang="es-ES" dirty="0"/>
          </a:p>
        </p:txBody>
      </p:sp>
      <p:cxnSp>
        <p:nvCxnSpPr>
          <p:cNvPr id="6" name="Conector recto 5">
            <a:extLst>
              <a:ext uri="{FF2B5EF4-FFF2-40B4-BE49-F238E27FC236}">
                <a16:creationId xmlns:a16="http://schemas.microsoft.com/office/drawing/2014/main" id="{DA436771-BA2C-5B88-D676-35F530B67A0E}"/>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B9195057-AA9F-A17C-FF3F-3E90F5156CE2}"/>
              </a:ext>
            </a:extLst>
          </p:cNvPr>
          <p:cNvSpPr txBox="1"/>
          <p:nvPr/>
        </p:nvSpPr>
        <p:spPr>
          <a:xfrm>
            <a:off x="1183066" y="2527909"/>
            <a:ext cx="4515439" cy="2585323"/>
          </a:xfrm>
          <a:prstGeom prst="rect">
            <a:avLst/>
          </a:prstGeom>
          <a:noFill/>
        </p:spPr>
        <p:txBody>
          <a:bodyPr wrap="square" rtlCol="0">
            <a:spAutoFit/>
          </a:bodyPr>
          <a:lstStyle/>
          <a:p>
            <a:r>
              <a:rPr lang="es-ES" dirty="0"/>
              <a:t>La idea del proyecto surge después de las elecciones a rector al detectar que se dependía de soluciones externas y buscando una solución propia.</a:t>
            </a:r>
            <a:br>
              <a:rPr lang="es-ES" dirty="0"/>
            </a:br>
            <a:endParaRPr lang="es-ES" dirty="0"/>
          </a:p>
          <a:p>
            <a:r>
              <a:rPr lang="es-ES" dirty="0"/>
              <a:t>Las alternativas existentes tienen un coste económico y una dependencia externa de la implementación que limita la adaptación de necesidades específicas de la organización.</a:t>
            </a:r>
          </a:p>
        </p:txBody>
      </p:sp>
      <p:sp>
        <p:nvSpPr>
          <p:cNvPr id="9" name="Rectángulo 8">
            <a:extLst>
              <a:ext uri="{FF2B5EF4-FFF2-40B4-BE49-F238E27FC236}">
                <a16:creationId xmlns:a16="http://schemas.microsoft.com/office/drawing/2014/main" id="{2A9BF117-6DE3-6096-F50A-5D5D8BAAD256}"/>
              </a:ext>
            </a:extLst>
          </p:cNvPr>
          <p:cNvSpPr/>
          <p:nvPr/>
        </p:nvSpPr>
        <p:spPr>
          <a:xfrm>
            <a:off x="6985262" y="1300899"/>
            <a:ext cx="2630078" cy="886117"/>
          </a:xfrm>
          <a:prstGeom prst="rect">
            <a:avLst/>
          </a:prstGeom>
          <a:solidFill>
            <a:schemeClr val="bg1"/>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08A66397-9A4F-0AFE-8EC6-518BBD77F341}"/>
              </a:ext>
            </a:extLst>
          </p:cNvPr>
          <p:cNvSpPr/>
          <p:nvPr/>
        </p:nvSpPr>
        <p:spPr>
          <a:xfrm>
            <a:off x="6985262" y="2615553"/>
            <a:ext cx="2630078" cy="886117"/>
          </a:xfrm>
          <a:prstGeom prst="rect">
            <a:avLst/>
          </a:prstGeom>
          <a:solidFill>
            <a:schemeClr val="bg1"/>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F41DAB19-D505-BB97-920F-CB2630F5794B}"/>
              </a:ext>
            </a:extLst>
          </p:cNvPr>
          <p:cNvSpPr/>
          <p:nvPr/>
        </p:nvSpPr>
        <p:spPr>
          <a:xfrm>
            <a:off x="6985262" y="5331587"/>
            <a:ext cx="2630078" cy="886117"/>
          </a:xfrm>
          <a:prstGeom prst="rect">
            <a:avLst/>
          </a:prstGeom>
          <a:solidFill>
            <a:schemeClr val="bg1"/>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0B4B12C0-935F-8D94-ACA6-E0EF8AF1EBE5}"/>
              </a:ext>
            </a:extLst>
          </p:cNvPr>
          <p:cNvCxnSpPr>
            <a:stCxn id="9" idx="2"/>
            <a:endCxn id="11" idx="0"/>
          </p:cNvCxnSpPr>
          <p:nvPr/>
        </p:nvCxnSpPr>
        <p:spPr>
          <a:xfrm>
            <a:off x="8300301" y="2187016"/>
            <a:ext cx="0" cy="428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010CFDCD-5174-1A90-D15E-49B5F982F433}"/>
              </a:ext>
            </a:extLst>
          </p:cNvPr>
          <p:cNvSpPr txBox="1"/>
          <p:nvPr/>
        </p:nvSpPr>
        <p:spPr>
          <a:xfrm>
            <a:off x="7673418" y="1522595"/>
            <a:ext cx="1253765" cy="369332"/>
          </a:xfrm>
          <a:prstGeom prst="rect">
            <a:avLst/>
          </a:prstGeom>
          <a:noFill/>
        </p:spPr>
        <p:txBody>
          <a:bodyPr wrap="square" rtlCol="0">
            <a:spAutoFit/>
          </a:bodyPr>
          <a:lstStyle/>
          <a:p>
            <a:r>
              <a:rPr lang="es-ES" dirty="0"/>
              <a:t>NECESIDAD</a:t>
            </a:r>
          </a:p>
        </p:txBody>
      </p:sp>
      <p:sp>
        <p:nvSpPr>
          <p:cNvPr id="18" name="CuadroTexto 17">
            <a:extLst>
              <a:ext uri="{FF2B5EF4-FFF2-40B4-BE49-F238E27FC236}">
                <a16:creationId xmlns:a16="http://schemas.microsoft.com/office/drawing/2014/main" id="{10338035-D2D6-7EA0-3462-0DEEDF0E0771}"/>
              </a:ext>
            </a:extLst>
          </p:cNvPr>
          <p:cNvSpPr txBox="1"/>
          <p:nvPr/>
        </p:nvSpPr>
        <p:spPr>
          <a:xfrm>
            <a:off x="7107813" y="2726983"/>
            <a:ext cx="2384973" cy="646331"/>
          </a:xfrm>
          <a:prstGeom prst="rect">
            <a:avLst/>
          </a:prstGeom>
          <a:noFill/>
        </p:spPr>
        <p:txBody>
          <a:bodyPr wrap="square" rtlCol="0">
            <a:spAutoFit/>
          </a:bodyPr>
          <a:lstStyle/>
          <a:p>
            <a:r>
              <a:rPr lang="es-ES" cap="all" dirty="0"/>
              <a:t>GESTIÓN DEL PROCESO</a:t>
            </a:r>
          </a:p>
          <a:p>
            <a:r>
              <a:rPr lang="es-ES" cap="all" dirty="0"/>
              <a:t>ELECTORAL COMPLETO</a:t>
            </a:r>
          </a:p>
        </p:txBody>
      </p:sp>
      <p:sp>
        <p:nvSpPr>
          <p:cNvPr id="19" name="CuadroTexto 18">
            <a:extLst>
              <a:ext uri="{FF2B5EF4-FFF2-40B4-BE49-F238E27FC236}">
                <a16:creationId xmlns:a16="http://schemas.microsoft.com/office/drawing/2014/main" id="{FB6127EB-073B-3490-52C9-5A63D8703BCC}"/>
              </a:ext>
            </a:extLst>
          </p:cNvPr>
          <p:cNvSpPr txBox="1"/>
          <p:nvPr/>
        </p:nvSpPr>
        <p:spPr>
          <a:xfrm>
            <a:off x="7334053" y="5633082"/>
            <a:ext cx="1932492" cy="369332"/>
          </a:xfrm>
          <a:prstGeom prst="rect">
            <a:avLst/>
          </a:prstGeom>
          <a:noFill/>
        </p:spPr>
        <p:txBody>
          <a:bodyPr wrap="square" rtlCol="0">
            <a:spAutoFit/>
          </a:bodyPr>
          <a:lstStyle/>
          <a:p>
            <a:r>
              <a:rPr lang="es-ES" dirty="0"/>
              <a:t>SOLUCIÓN PROPIA</a:t>
            </a:r>
          </a:p>
        </p:txBody>
      </p:sp>
      <p:sp>
        <p:nvSpPr>
          <p:cNvPr id="23" name="Rectángulo 22">
            <a:extLst>
              <a:ext uri="{FF2B5EF4-FFF2-40B4-BE49-F238E27FC236}">
                <a16:creationId xmlns:a16="http://schemas.microsoft.com/office/drawing/2014/main" id="{05DE5C61-8A38-5A10-EE2E-649F20E7BA0C}"/>
              </a:ext>
            </a:extLst>
          </p:cNvPr>
          <p:cNvSpPr/>
          <p:nvPr/>
        </p:nvSpPr>
        <p:spPr>
          <a:xfrm>
            <a:off x="6985262" y="3973570"/>
            <a:ext cx="2630078" cy="886117"/>
          </a:xfrm>
          <a:prstGeom prst="rect">
            <a:avLst/>
          </a:prstGeom>
          <a:solidFill>
            <a:schemeClr val="bg1"/>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4" name="CuadroTexto 23">
            <a:extLst>
              <a:ext uri="{FF2B5EF4-FFF2-40B4-BE49-F238E27FC236}">
                <a16:creationId xmlns:a16="http://schemas.microsoft.com/office/drawing/2014/main" id="{B2849181-80BC-3D6A-D0D2-7DB98CC103CD}"/>
              </a:ext>
            </a:extLst>
          </p:cNvPr>
          <p:cNvSpPr txBox="1"/>
          <p:nvPr/>
        </p:nvSpPr>
        <p:spPr>
          <a:xfrm>
            <a:off x="7107813" y="4280291"/>
            <a:ext cx="2507528" cy="369332"/>
          </a:xfrm>
          <a:prstGeom prst="rect">
            <a:avLst/>
          </a:prstGeom>
          <a:noFill/>
        </p:spPr>
        <p:txBody>
          <a:bodyPr wrap="square" rtlCol="0">
            <a:spAutoFit/>
          </a:bodyPr>
          <a:lstStyle/>
          <a:p>
            <a:r>
              <a:rPr lang="es-ES" dirty="0"/>
              <a:t>CONTROL Y SEGURIDAD</a:t>
            </a:r>
          </a:p>
        </p:txBody>
      </p:sp>
      <p:cxnSp>
        <p:nvCxnSpPr>
          <p:cNvPr id="26" name="Conector recto de flecha 25">
            <a:extLst>
              <a:ext uri="{FF2B5EF4-FFF2-40B4-BE49-F238E27FC236}">
                <a16:creationId xmlns:a16="http://schemas.microsoft.com/office/drawing/2014/main" id="{ADF77A63-1993-5B42-AC0D-153E6863C7B1}"/>
              </a:ext>
            </a:extLst>
          </p:cNvPr>
          <p:cNvCxnSpPr>
            <a:stCxn id="11" idx="2"/>
            <a:endCxn id="23" idx="0"/>
          </p:cNvCxnSpPr>
          <p:nvPr/>
        </p:nvCxnSpPr>
        <p:spPr>
          <a:xfrm>
            <a:off x="8300301" y="3501670"/>
            <a:ext cx="0" cy="471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2BD9BD09-64C5-7F8B-6446-2CD989FEBC5F}"/>
              </a:ext>
            </a:extLst>
          </p:cNvPr>
          <p:cNvCxnSpPr>
            <a:stCxn id="23" idx="2"/>
            <a:endCxn id="12" idx="0"/>
          </p:cNvCxnSpPr>
          <p:nvPr/>
        </p:nvCxnSpPr>
        <p:spPr>
          <a:xfrm>
            <a:off x="8300301" y="4859687"/>
            <a:ext cx="0" cy="471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013584"/>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59778-0FC2-79D3-3B95-386F7A6D41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2347CD-5289-A568-BB10-0DFC48580B48}"/>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OBJETIVOS DEL PROYECTO</a:t>
            </a:r>
          </a:p>
        </p:txBody>
      </p:sp>
      <p:sp>
        <p:nvSpPr>
          <p:cNvPr id="3" name="Subtítulo 2">
            <a:extLst>
              <a:ext uri="{FF2B5EF4-FFF2-40B4-BE49-F238E27FC236}">
                <a16:creationId xmlns:a16="http://schemas.microsoft.com/office/drawing/2014/main" id="{8903A3C9-D018-357F-7231-61AA069D74A9}"/>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51517A2D-2252-3D85-7612-C28412E8C62D}"/>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3</a:t>
            </a:fld>
            <a:endParaRPr lang="es-ES" dirty="0"/>
          </a:p>
        </p:txBody>
      </p:sp>
      <p:cxnSp>
        <p:nvCxnSpPr>
          <p:cNvPr id="6" name="Conector recto 5">
            <a:extLst>
              <a:ext uri="{FF2B5EF4-FFF2-40B4-BE49-F238E27FC236}">
                <a16:creationId xmlns:a16="http://schemas.microsoft.com/office/drawing/2014/main" id="{3A59E726-F57D-EF2E-4D52-832CC3E2E880}"/>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DBBDD992-274F-E3B9-4A0B-E30C31CD354E}"/>
              </a:ext>
            </a:extLst>
          </p:cNvPr>
          <p:cNvSpPr txBox="1"/>
          <p:nvPr/>
        </p:nvSpPr>
        <p:spPr>
          <a:xfrm>
            <a:off x="1610639" y="1895912"/>
            <a:ext cx="3255264" cy="369332"/>
          </a:xfrm>
          <a:prstGeom prst="rect">
            <a:avLst/>
          </a:prstGeom>
          <a:noFill/>
        </p:spPr>
        <p:txBody>
          <a:bodyPr wrap="square" rtlCol="0">
            <a:spAutoFit/>
          </a:bodyPr>
          <a:lstStyle/>
          <a:p>
            <a:r>
              <a:rPr lang="es-ES" u="sng" dirty="0"/>
              <a:t>GESTIÓN DEL CICLO ELECTORAL</a:t>
            </a:r>
          </a:p>
        </p:txBody>
      </p:sp>
      <p:sp>
        <p:nvSpPr>
          <p:cNvPr id="7" name="CuadroTexto 6">
            <a:extLst>
              <a:ext uri="{FF2B5EF4-FFF2-40B4-BE49-F238E27FC236}">
                <a16:creationId xmlns:a16="http://schemas.microsoft.com/office/drawing/2014/main" id="{89ADAEA4-39DD-ECFC-4DDA-2B87519B9A18}"/>
              </a:ext>
            </a:extLst>
          </p:cNvPr>
          <p:cNvSpPr txBox="1"/>
          <p:nvPr/>
        </p:nvSpPr>
        <p:spPr>
          <a:xfrm>
            <a:off x="7638619" y="1878860"/>
            <a:ext cx="3255264" cy="369332"/>
          </a:xfrm>
          <a:prstGeom prst="rect">
            <a:avLst/>
          </a:prstGeom>
          <a:noFill/>
        </p:spPr>
        <p:txBody>
          <a:bodyPr wrap="square" rtlCol="0">
            <a:spAutoFit/>
          </a:bodyPr>
          <a:lstStyle/>
          <a:p>
            <a:r>
              <a:rPr lang="es-ES" u="sng" dirty="0"/>
              <a:t>SEGURIDAD DEL PROCESO</a:t>
            </a:r>
          </a:p>
        </p:txBody>
      </p:sp>
      <p:sp>
        <p:nvSpPr>
          <p:cNvPr id="8" name="CuadroTexto 7">
            <a:extLst>
              <a:ext uri="{FF2B5EF4-FFF2-40B4-BE49-F238E27FC236}">
                <a16:creationId xmlns:a16="http://schemas.microsoft.com/office/drawing/2014/main" id="{69B899A9-68E1-9749-1AFA-E033C017348D}"/>
              </a:ext>
            </a:extLst>
          </p:cNvPr>
          <p:cNvSpPr txBox="1"/>
          <p:nvPr/>
        </p:nvSpPr>
        <p:spPr>
          <a:xfrm>
            <a:off x="1888173" y="4103896"/>
            <a:ext cx="3255264" cy="369332"/>
          </a:xfrm>
          <a:prstGeom prst="rect">
            <a:avLst/>
          </a:prstGeom>
          <a:noFill/>
        </p:spPr>
        <p:txBody>
          <a:bodyPr wrap="square" rtlCol="0">
            <a:spAutoFit/>
          </a:bodyPr>
          <a:lstStyle/>
          <a:p>
            <a:r>
              <a:rPr lang="es-ES" u="sng" dirty="0"/>
              <a:t>CONTROL DEL ACCESO</a:t>
            </a:r>
          </a:p>
        </p:txBody>
      </p:sp>
      <p:sp>
        <p:nvSpPr>
          <p:cNvPr id="9" name="CuadroTexto 8">
            <a:extLst>
              <a:ext uri="{FF2B5EF4-FFF2-40B4-BE49-F238E27FC236}">
                <a16:creationId xmlns:a16="http://schemas.microsoft.com/office/drawing/2014/main" id="{72B40C71-6DC3-5D6E-EC95-1CB9C29080C7}"/>
              </a:ext>
            </a:extLst>
          </p:cNvPr>
          <p:cNvSpPr txBox="1"/>
          <p:nvPr/>
        </p:nvSpPr>
        <p:spPr>
          <a:xfrm>
            <a:off x="8252445" y="4050912"/>
            <a:ext cx="3255264" cy="369332"/>
          </a:xfrm>
          <a:prstGeom prst="rect">
            <a:avLst/>
          </a:prstGeom>
          <a:noFill/>
        </p:spPr>
        <p:txBody>
          <a:bodyPr wrap="square" rtlCol="0">
            <a:spAutoFit/>
          </a:bodyPr>
          <a:lstStyle/>
          <a:p>
            <a:r>
              <a:rPr lang="es-ES" u="sng" dirty="0"/>
              <a:t>TRAZABILIDAD</a:t>
            </a:r>
          </a:p>
        </p:txBody>
      </p:sp>
      <p:sp>
        <p:nvSpPr>
          <p:cNvPr id="10" name="CuadroTexto 9">
            <a:extLst>
              <a:ext uri="{FF2B5EF4-FFF2-40B4-BE49-F238E27FC236}">
                <a16:creationId xmlns:a16="http://schemas.microsoft.com/office/drawing/2014/main" id="{CF5F4DCE-DDC6-A924-8150-45F41D70F06D}"/>
              </a:ext>
            </a:extLst>
          </p:cNvPr>
          <p:cNvSpPr txBox="1"/>
          <p:nvPr/>
        </p:nvSpPr>
        <p:spPr>
          <a:xfrm>
            <a:off x="1735836" y="2294295"/>
            <a:ext cx="2834640" cy="954107"/>
          </a:xfrm>
          <a:prstGeom prst="rect">
            <a:avLst/>
          </a:prstGeom>
          <a:noFill/>
        </p:spPr>
        <p:txBody>
          <a:bodyPr wrap="square" rtlCol="0">
            <a:spAutoFit/>
          </a:bodyPr>
          <a:lstStyle/>
          <a:p>
            <a:r>
              <a:rPr lang="es-ES" sz="1400" dirty="0"/>
              <a:t>Gestionar el ciclo electoral completo, desde la publicación del censo hasta la publicación de resultados</a:t>
            </a:r>
          </a:p>
        </p:txBody>
      </p:sp>
      <p:sp>
        <p:nvSpPr>
          <p:cNvPr id="11" name="CuadroTexto 10">
            <a:extLst>
              <a:ext uri="{FF2B5EF4-FFF2-40B4-BE49-F238E27FC236}">
                <a16:creationId xmlns:a16="http://schemas.microsoft.com/office/drawing/2014/main" id="{A0C8369D-0F1E-E7DC-E3B2-AC9CA1C02927}"/>
              </a:ext>
            </a:extLst>
          </p:cNvPr>
          <p:cNvSpPr txBox="1"/>
          <p:nvPr/>
        </p:nvSpPr>
        <p:spPr>
          <a:xfrm>
            <a:off x="7703820" y="2322834"/>
            <a:ext cx="2834640" cy="954107"/>
          </a:xfrm>
          <a:prstGeom prst="rect">
            <a:avLst/>
          </a:prstGeom>
          <a:noFill/>
        </p:spPr>
        <p:txBody>
          <a:bodyPr wrap="square" rtlCol="0">
            <a:spAutoFit/>
          </a:bodyPr>
          <a:lstStyle/>
          <a:p>
            <a:r>
              <a:rPr lang="es-ES" sz="1400" dirty="0"/>
              <a:t>Garantizar la integridad, confidencialidad y autenticidad del voto mediante certificados digitales y mecanismos criptográficos</a:t>
            </a:r>
          </a:p>
        </p:txBody>
      </p:sp>
      <p:sp>
        <p:nvSpPr>
          <p:cNvPr id="12" name="CuadroTexto 11">
            <a:extLst>
              <a:ext uri="{FF2B5EF4-FFF2-40B4-BE49-F238E27FC236}">
                <a16:creationId xmlns:a16="http://schemas.microsoft.com/office/drawing/2014/main" id="{750459EE-60D8-DD92-C205-82479B521CBF}"/>
              </a:ext>
            </a:extLst>
          </p:cNvPr>
          <p:cNvSpPr txBox="1"/>
          <p:nvPr/>
        </p:nvSpPr>
        <p:spPr>
          <a:xfrm>
            <a:off x="1735836" y="4562554"/>
            <a:ext cx="2935224" cy="954107"/>
          </a:xfrm>
          <a:prstGeom prst="rect">
            <a:avLst/>
          </a:prstGeom>
          <a:noFill/>
        </p:spPr>
        <p:txBody>
          <a:bodyPr wrap="square" rtlCol="0">
            <a:spAutoFit/>
          </a:bodyPr>
          <a:lstStyle/>
          <a:p>
            <a:r>
              <a:rPr lang="es-ES" sz="1400" dirty="0"/>
              <a:t>Aplicar un modelo de roles que limite las operaciones disponibles para cada usuario según sus funciones dentro del proceso electoral</a:t>
            </a:r>
          </a:p>
        </p:txBody>
      </p:sp>
      <p:sp>
        <p:nvSpPr>
          <p:cNvPr id="13" name="CuadroTexto 12">
            <a:extLst>
              <a:ext uri="{FF2B5EF4-FFF2-40B4-BE49-F238E27FC236}">
                <a16:creationId xmlns:a16="http://schemas.microsoft.com/office/drawing/2014/main" id="{ECA0DBA1-A86A-5B72-A30D-2A1BB0AD8FB3}"/>
              </a:ext>
            </a:extLst>
          </p:cNvPr>
          <p:cNvSpPr txBox="1"/>
          <p:nvPr/>
        </p:nvSpPr>
        <p:spPr>
          <a:xfrm>
            <a:off x="7703820" y="4647763"/>
            <a:ext cx="2834640" cy="738664"/>
          </a:xfrm>
          <a:prstGeom prst="rect">
            <a:avLst/>
          </a:prstGeom>
          <a:noFill/>
        </p:spPr>
        <p:txBody>
          <a:bodyPr wrap="square" rtlCol="0">
            <a:spAutoFit/>
          </a:bodyPr>
          <a:lstStyle/>
          <a:p>
            <a:r>
              <a:rPr lang="es-ES" sz="1400" dirty="0"/>
              <a:t>Registrar los eventos relevantes del proceso electoral para facilitar su seguimiento, verificación y control</a:t>
            </a:r>
          </a:p>
        </p:txBody>
      </p:sp>
      <p:sp>
        <p:nvSpPr>
          <p:cNvPr id="14" name="Rectángulo 13">
            <a:extLst>
              <a:ext uri="{FF2B5EF4-FFF2-40B4-BE49-F238E27FC236}">
                <a16:creationId xmlns:a16="http://schemas.microsoft.com/office/drawing/2014/main" id="{ABE38A45-D833-B4A6-9D10-7F697AEBC2F9}"/>
              </a:ext>
            </a:extLst>
          </p:cNvPr>
          <p:cNvSpPr/>
          <p:nvPr/>
        </p:nvSpPr>
        <p:spPr>
          <a:xfrm>
            <a:off x="1616963" y="1547257"/>
            <a:ext cx="3140823" cy="1955671"/>
          </a:xfrm>
          <a:prstGeom prst="rect">
            <a:avLst/>
          </a:prstGeom>
          <a:noFill/>
          <a:ln w="762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834F7210-B5E9-CF6A-6EE8-50A4750F65EB}"/>
              </a:ext>
            </a:extLst>
          </p:cNvPr>
          <p:cNvSpPr/>
          <p:nvPr/>
        </p:nvSpPr>
        <p:spPr>
          <a:xfrm>
            <a:off x="7440538" y="1547257"/>
            <a:ext cx="3140823" cy="1955671"/>
          </a:xfrm>
          <a:prstGeom prst="rect">
            <a:avLst/>
          </a:prstGeom>
          <a:noFill/>
          <a:ln w="762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A77DDD92-B218-7945-713A-63E6F66446A4}"/>
              </a:ext>
            </a:extLst>
          </p:cNvPr>
          <p:cNvSpPr/>
          <p:nvPr/>
        </p:nvSpPr>
        <p:spPr>
          <a:xfrm>
            <a:off x="1616963" y="3852695"/>
            <a:ext cx="3140823" cy="1955671"/>
          </a:xfrm>
          <a:prstGeom prst="rect">
            <a:avLst/>
          </a:prstGeom>
          <a:noFill/>
          <a:ln w="762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07C809D1-DCD6-35B3-D371-77CB2ED1F9DF}"/>
              </a:ext>
            </a:extLst>
          </p:cNvPr>
          <p:cNvSpPr/>
          <p:nvPr/>
        </p:nvSpPr>
        <p:spPr>
          <a:xfrm>
            <a:off x="7434214" y="3852694"/>
            <a:ext cx="3140823" cy="1955671"/>
          </a:xfrm>
          <a:prstGeom prst="rect">
            <a:avLst/>
          </a:prstGeom>
          <a:noFill/>
          <a:ln w="762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4117400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2A78A-21F6-5330-A6EB-3F5B16F80B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A570FC-FD9F-280E-5567-83FC506B8C94}"/>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CICLO ELECTORAL COMPLETO</a:t>
            </a:r>
          </a:p>
        </p:txBody>
      </p:sp>
      <p:sp>
        <p:nvSpPr>
          <p:cNvPr id="3" name="Subtítulo 2">
            <a:extLst>
              <a:ext uri="{FF2B5EF4-FFF2-40B4-BE49-F238E27FC236}">
                <a16:creationId xmlns:a16="http://schemas.microsoft.com/office/drawing/2014/main" id="{EB3FF322-5D9E-487F-EFD8-8AEA51D78024}"/>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7CBD39D2-7D12-1E16-CAA2-E97088A25024}"/>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4</a:t>
            </a:fld>
            <a:endParaRPr lang="es-ES" dirty="0"/>
          </a:p>
        </p:txBody>
      </p:sp>
      <p:cxnSp>
        <p:nvCxnSpPr>
          <p:cNvPr id="6" name="Conector recto 5">
            <a:extLst>
              <a:ext uri="{FF2B5EF4-FFF2-40B4-BE49-F238E27FC236}">
                <a16:creationId xmlns:a16="http://schemas.microsoft.com/office/drawing/2014/main" id="{BA31A5E9-2CAC-4637-C577-7500D7C88163}"/>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30" name="Imagen 29">
            <a:extLst>
              <a:ext uri="{FF2B5EF4-FFF2-40B4-BE49-F238E27FC236}">
                <a16:creationId xmlns:a16="http://schemas.microsoft.com/office/drawing/2014/main" id="{C87AB6E0-EBCD-CB4A-CC6A-573AD6A7054D}"/>
              </a:ext>
            </a:extLst>
          </p:cNvPr>
          <p:cNvPicPr>
            <a:picLocks noChangeAspect="1"/>
          </p:cNvPicPr>
          <p:nvPr/>
        </p:nvPicPr>
        <p:blipFill>
          <a:blip r:embed="rId3"/>
          <a:stretch>
            <a:fillRect/>
          </a:stretch>
        </p:blipFill>
        <p:spPr>
          <a:xfrm>
            <a:off x="628219" y="1228429"/>
            <a:ext cx="10307488" cy="5115639"/>
          </a:xfrm>
          <a:prstGeom prst="rect">
            <a:avLst/>
          </a:prstGeom>
        </p:spPr>
      </p:pic>
    </p:spTree>
    <p:extLst>
      <p:ext uri="{BB962C8B-B14F-4D97-AF65-F5344CB8AC3E}">
        <p14:creationId xmlns:p14="http://schemas.microsoft.com/office/powerpoint/2010/main" val="827183736"/>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A75A-78D8-CA09-7253-485A4F8A3D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C33116-932F-432F-48E0-8927B1DA51E3}"/>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ARQUITECTURA DEL SISTEMA</a:t>
            </a:r>
          </a:p>
        </p:txBody>
      </p:sp>
      <p:sp>
        <p:nvSpPr>
          <p:cNvPr id="3" name="Subtítulo 2">
            <a:extLst>
              <a:ext uri="{FF2B5EF4-FFF2-40B4-BE49-F238E27FC236}">
                <a16:creationId xmlns:a16="http://schemas.microsoft.com/office/drawing/2014/main" id="{9370A979-5D71-3432-CFD3-7F9FFC5D3867}"/>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4A2EDB28-DBF3-425B-547A-BC8718D52F7E}"/>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5</a:t>
            </a:fld>
            <a:endParaRPr lang="es-ES" dirty="0"/>
          </a:p>
        </p:txBody>
      </p:sp>
      <p:cxnSp>
        <p:nvCxnSpPr>
          <p:cNvPr id="6" name="Conector recto 5">
            <a:extLst>
              <a:ext uri="{FF2B5EF4-FFF2-40B4-BE49-F238E27FC236}">
                <a16:creationId xmlns:a16="http://schemas.microsoft.com/office/drawing/2014/main" id="{B58C9318-039F-68D0-1B3D-705925072DED}"/>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9E9B3147-4231-E251-0301-D190D819E55A}"/>
              </a:ext>
            </a:extLst>
          </p:cNvPr>
          <p:cNvSpPr/>
          <p:nvPr/>
        </p:nvSpPr>
        <p:spPr>
          <a:xfrm>
            <a:off x="2830944" y="1542457"/>
            <a:ext cx="6082145" cy="951337"/>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8D82D27B-2783-49C6-CB0B-8A8BD8023CFA}"/>
              </a:ext>
            </a:extLst>
          </p:cNvPr>
          <p:cNvSpPr txBox="1"/>
          <p:nvPr/>
        </p:nvSpPr>
        <p:spPr>
          <a:xfrm>
            <a:off x="3020291" y="1667143"/>
            <a:ext cx="5745018" cy="646331"/>
          </a:xfrm>
          <a:prstGeom prst="rect">
            <a:avLst/>
          </a:prstGeom>
          <a:noFill/>
        </p:spPr>
        <p:txBody>
          <a:bodyPr wrap="square" rtlCol="0">
            <a:spAutoFit/>
          </a:bodyPr>
          <a:lstStyle/>
          <a:p>
            <a:pPr algn="ctr"/>
            <a:r>
              <a:rPr lang="es-ES" dirty="0"/>
              <a:t>INTERFAZ WEB</a:t>
            </a:r>
          </a:p>
          <a:p>
            <a:pPr algn="ctr"/>
            <a:r>
              <a:rPr lang="es-ES" dirty="0"/>
              <a:t>Plantillas   |  Bootstrap  | Formularios</a:t>
            </a:r>
          </a:p>
        </p:txBody>
      </p:sp>
      <p:sp>
        <p:nvSpPr>
          <p:cNvPr id="8" name="Rectángulo: esquinas redondeadas 7">
            <a:extLst>
              <a:ext uri="{FF2B5EF4-FFF2-40B4-BE49-F238E27FC236}">
                <a16:creationId xmlns:a16="http://schemas.microsoft.com/office/drawing/2014/main" id="{6A58223B-6707-5B08-A089-11040BD56C00}"/>
              </a:ext>
            </a:extLst>
          </p:cNvPr>
          <p:cNvSpPr/>
          <p:nvPr/>
        </p:nvSpPr>
        <p:spPr>
          <a:xfrm>
            <a:off x="2851727" y="2998066"/>
            <a:ext cx="6082145" cy="951337"/>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abajo 8">
            <a:extLst>
              <a:ext uri="{FF2B5EF4-FFF2-40B4-BE49-F238E27FC236}">
                <a16:creationId xmlns:a16="http://schemas.microsoft.com/office/drawing/2014/main" id="{D11D6271-D009-21F8-A086-5CA2D4D194B0}"/>
              </a:ext>
            </a:extLst>
          </p:cNvPr>
          <p:cNvSpPr/>
          <p:nvPr/>
        </p:nvSpPr>
        <p:spPr>
          <a:xfrm>
            <a:off x="5738089" y="2493794"/>
            <a:ext cx="267854" cy="504272"/>
          </a:xfrm>
          <a:prstGeom prst="down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D5F12ED7-A7B9-69B1-D5EA-F8A257F93CC5}"/>
              </a:ext>
            </a:extLst>
          </p:cNvPr>
          <p:cNvSpPr txBox="1"/>
          <p:nvPr/>
        </p:nvSpPr>
        <p:spPr>
          <a:xfrm>
            <a:off x="3426691" y="3140364"/>
            <a:ext cx="5015345" cy="646331"/>
          </a:xfrm>
          <a:prstGeom prst="rect">
            <a:avLst/>
          </a:prstGeom>
          <a:noFill/>
        </p:spPr>
        <p:txBody>
          <a:bodyPr wrap="square" rtlCol="0">
            <a:spAutoFit/>
          </a:bodyPr>
          <a:lstStyle/>
          <a:p>
            <a:pPr algn="ctr"/>
            <a:r>
              <a:rPr lang="es-ES" dirty="0"/>
              <a:t>APLICACIÓN DJANGO</a:t>
            </a:r>
          </a:p>
          <a:p>
            <a:pPr algn="ctr"/>
            <a:r>
              <a:rPr lang="es-ES" dirty="0"/>
              <a:t>Vistas | Modelos |Permisos |Lógica Electoral</a:t>
            </a:r>
          </a:p>
        </p:txBody>
      </p:sp>
      <p:sp>
        <p:nvSpPr>
          <p:cNvPr id="11" name="Rectángulo: esquinas redondeadas 10">
            <a:extLst>
              <a:ext uri="{FF2B5EF4-FFF2-40B4-BE49-F238E27FC236}">
                <a16:creationId xmlns:a16="http://schemas.microsoft.com/office/drawing/2014/main" id="{188FA81F-BCE6-948C-8733-755691B4C313}"/>
              </a:ext>
            </a:extLst>
          </p:cNvPr>
          <p:cNvSpPr/>
          <p:nvPr/>
        </p:nvSpPr>
        <p:spPr>
          <a:xfrm>
            <a:off x="2923304" y="4536530"/>
            <a:ext cx="2276766" cy="130865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E7341F23-2030-B375-CFDD-630B42F297F7}"/>
              </a:ext>
            </a:extLst>
          </p:cNvPr>
          <p:cNvSpPr/>
          <p:nvPr/>
        </p:nvSpPr>
        <p:spPr>
          <a:xfrm>
            <a:off x="6571671" y="4536530"/>
            <a:ext cx="2276766" cy="130865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lecha: hacia abajo 12">
            <a:extLst>
              <a:ext uri="{FF2B5EF4-FFF2-40B4-BE49-F238E27FC236}">
                <a16:creationId xmlns:a16="http://schemas.microsoft.com/office/drawing/2014/main" id="{12289F29-D537-64D9-D586-18418A5554B4}"/>
              </a:ext>
            </a:extLst>
          </p:cNvPr>
          <p:cNvSpPr/>
          <p:nvPr/>
        </p:nvSpPr>
        <p:spPr>
          <a:xfrm>
            <a:off x="4061687" y="3990830"/>
            <a:ext cx="267854" cy="504272"/>
          </a:xfrm>
          <a:prstGeom prst="down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lecha: hacia abajo 13">
            <a:extLst>
              <a:ext uri="{FF2B5EF4-FFF2-40B4-BE49-F238E27FC236}">
                <a16:creationId xmlns:a16="http://schemas.microsoft.com/office/drawing/2014/main" id="{8C1532DD-79FB-DB1E-82C0-517B837B7219}"/>
              </a:ext>
            </a:extLst>
          </p:cNvPr>
          <p:cNvSpPr/>
          <p:nvPr/>
        </p:nvSpPr>
        <p:spPr>
          <a:xfrm>
            <a:off x="7576127" y="3990830"/>
            <a:ext cx="267854" cy="504272"/>
          </a:xfrm>
          <a:prstGeom prst="down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3D8D43E9-C10F-10F1-C381-CF72E1F1FB4F}"/>
              </a:ext>
            </a:extLst>
          </p:cNvPr>
          <p:cNvSpPr txBox="1"/>
          <p:nvPr/>
        </p:nvSpPr>
        <p:spPr>
          <a:xfrm>
            <a:off x="2944086" y="4747491"/>
            <a:ext cx="2255983" cy="923330"/>
          </a:xfrm>
          <a:prstGeom prst="rect">
            <a:avLst/>
          </a:prstGeom>
          <a:noFill/>
        </p:spPr>
        <p:txBody>
          <a:bodyPr wrap="square" rtlCol="0">
            <a:spAutoFit/>
          </a:bodyPr>
          <a:lstStyle/>
          <a:p>
            <a:pPr algn="ctr"/>
            <a:r>
              <a:rPr lang="es-ES" dirty="0"/>
              <a:t>BASE DE DATOS</a:t>
            </a:r>
          </a:p>
          <a:p>
            <a:pPr algn="ctr"/>
            <a:r>
              <a:rPr lang="es-ES" dirty="0"/>
              <a:t>Usuarios | Votaciones</a:t>
            </a:r>
          </a:p>
          <a:p>
            <a:pPr algn="ctr"/>
            <a:r>
              <a:rPr lang="es-ES" dirty="0"/>
              <a:t>Censos | Votos</a:t>
            </a:r>
          </a:p>
        </p:txBody>
      </p:sp>
      <p:sp>
        <p:nvSpPr>
          <p:cNvPr id="16" name="CuadroTexto 15">
            <a:extLst>
              <a:ext uri="{FF2B5EF4-FFF2-40B4-BE49-F238E27FC236}">
                <a16:creationId xmlns:a16="http://schemas.microsoft.com/office/drawing/2014/main" id="{8E488976-5550-8AE8-62C8-40EA6B100371}"/>
              </a:ext>
            </a:extLst>
          </p:cNvPr>
          <p:cNvSpPr txBox="1"/>
          <p:nvPr/>
        </p:nvSpPr>
        <p:spPr>
          <a:xfrm>
            <a:off x="6571671" y="4747491"/>
            <a:ext cx="2276766" cy="923330"/>
          </a:xfrm>
          <a:prstGeom prst="rect">
            <a:avLst/>
          </a:prstGeom>
          <a:noFill/>
        </p:spPr>
        <p:txBody>
          <a:bodyPr wrap="square" rtlCol="0">
            <a:spAutoFit/>
          </a:bodyPr>
          <a:lstStyle/>
          <a:p>
            <a:pPr algn="ctr"/>
            <a:r>
              <a:rPr lang="es-ES" dirty="0"/>
              <a:t>CERTIFICADOS</a:t>
            </a:r>
          </a:p>
          <a:p>
            <a:pPr algn="ctr"/>
            <a:r>
              <a:rPr lang="es-ES" dirty="0"/>
              <a:t>Firma | Cifrado |</a:t>
            </a:r>
          </a:p>
          <a:p>
            <a:pPr algn="ctr"/>
            <a:r>
              <a:rPr lang="es-ES" dirty="0"/>
              <a:t>Validación</a:t>
            </a:r>
          </a:p>
        </p:txBody>
      </p:sp>
      <p:sp>
        <p:nvSpPr>
          <p:cNvPr id="17" name="CuadroTexto 16">
            <a:extLst>
              <a:ext uri="{FF2B5EF4-FFF2-40B4-BE49-F238E27FC236}">
                <a16:creationId xmlns:a16="http://schemas.microsoft.com/office/drawing/2014/main" id="{2DCE45AC-0B7D-A241-B441-BF458716AB7C}"/>
              </a:ext>
            </a:extLst>
          </p:cNvPr>
          <p:cNvSpPr txBox="1"/>
          <p:nvPr/>
        </p:nvSpPr>
        <p:spPr>
          <a:xfrm>
            <a:off x="2535382" y="5974845"/>
            <a:ext cx="9305636" cy="276999"/>
          </a:xfrm>
          <a:prstGeom prst="rect">
            <a:avLst/>
          </a:prstGeom>
          <a:noFill/>
        </p:spPr>
        <p:txBody>
          <a:bodyPr wrap="square" rtlCol="0">
            <a:spAutoFit/>
          </a:bodyPr>
          <a:lstStyle/>
          <a:p>
            <a:r>
              <a:rPr lang="es-ES" sz="1200" dirty="0">
                <a:latin typeface="Aptos" panose="020B0004020202020204" pitchFamily="34" charset="0"/>
              </a:rPr>
              <a:t>Arquitectura web modular orientada a separar presentación, lógica electoral, persistencia y seguridad.</a:t>
            </a:r>
          </a:p>
        </p:txBody>
      </p:sp>
    </p:spTree>
    <p:extLst>
      <p:ext uri="{BB962C8B-B14F-4D97-AF65-F5344CB8AC3E}">
        <p14:creationId xmlns:p14="http://schemas.microsoft.com/office/powerpoint/2010/main" val="113252186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D12C-7D89-123C-9AF5-1227B2B248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13D2C6-416A-0AD3-1EEC-375160904CF9}"/>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MODELO DE ROLES</a:t>
            </a:r>
          </a:p>
        </p:txBody>
      </p:sp>
      <p:sp>
        <p:nvSpPr>
          <p:cNvPr id="3" name="Subtítulo 2">
            <a:extLst>
              <a:ext uri="{FF2B5EF4-FFF2-40B4-BE49-F238E27FC236}">
                <a16:creationId xmlns:a16="http://schemas.microsoft.com/office/drawing/2014/main" id="{D741832B-01E1-42FD-30E0-F7F90281B130}"/>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42901A80-0FD8-059D-4CC1-8CEB6141AEA2}"/>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6</a:t>
            </a:fld>
            <a:endParaRPr lang="es-ES" dirty="0"/>
          </a:p>
        </p:txBody>
      </p:sp>
      <p:cxnSp>
        <p:nvCxnSpPr>
          <p:cNvPr id="6" name="Conector recto 5">
            <a:extLst>
              <a:ext uri="{FF2B5EF4-FFF2-40B4-BE49-F238E27FC236}">
                <a16:creationId xmlns:a16="http://schemas.microsoft.com/office/drawing/2014/main" id="{54994267-1041-ACF5-8DEB-624B772091DE}"/>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44EBE94F-359A-1D71-32D5-70EDEAFF5735}"/>
              </a:ext>
            </a:extLst>
          </p:cNvPr>
          <p:cNvPicPr>
            <a:picLocks noChangeAspect="1"/>
          </p:cNvPicPr>
          <p:nvPr/>
        </p:nvPicPr>
        <p:blipFill>
          <a:blip r:embed="rId3"/>
          <a:stretch>
            <a:fillRect/>
          </a:stretch>
        </p:blipFill>
        <p:spPr>
          <a:xfrm>
            <a:off x="1477818" y="1284754"/>
            <a:ext cx="8963166" cy="5071596"/>
          </a:xfrm>
          <a:prstGeom prst="rect">
            <a:avLst/>
          </a:prstGeom>
        </p:spPr>
      </p:pic>
    </p:spTree>
    <p:extLst>
      <p:ext uri="{BB962C8B-B14F-4D97-AF65-F5344CB8AC3E}">
        <p14:creationId xmlns:p14="http://schemas.microsoft.com/office/powerpoint/2010/main" val="42188017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DC24-0E27-9D63-7752-23AE901FCE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CFD2FB-F0B8-89F7-B9DB-39FC43F797EE}"/>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SEGURIDAD DEL PROCESO ELECTORAL</a:t>
            </a:r>
          </a:p>
        </p:txBody>
      </p:sp>
      <p:sp>
        <p:nvSpPr>
          <p:cNvPr id="3" name="Subtítulo 2">
            <a:extLst>
              <a:ext uri="{FF2B5EF4-FFF2-40B4-BE49-F238E27FC236}">
                <a16:creationId xmlns:a16="http://schemas.microsoft.com/office/drawing/2014/main" id="{DF39A1B1-A75D-8C23-D34C-24175835FEE1}"/>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05540954-E4DB-673D-EA4F-C7EBA2A500B4}"/>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7</a:t>
            </a:fld>
            <a:endParaRPr lang="es-ES" dirty="0"/>
          </a:p>
        </p:txBody>
      </p:sp>
      <p:cxnSp>
        <p:nvCxnSpPr>
          <p:cNvPr id="6" name="Conector recto 5">
            <a:extLst>
              <a:ext uri="{FF2B5EF4-FFF2-40B4-BE49-F238E27FC236}">
                <a16:creationId xmlns:a16="http://schemas.microsoft.com/office/drawing/2014/main" id="{70C80CD2-79D7-2699-EE88-548812B546B7}"/>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60F71E1E-14B0-36AC-19FE-78D794354028}"/>
              </a:ext>
            </a:extLst>
          </p:cNvPr>
          <p:cNvSpPr/>
          <p:nvPr/>
        </p:nvSpPr>
        <p:spPr>
          <a:xfrm>
            <a:off x="1597873" y="1649570"/>
            <a:ext cx="2091390" cy="951337"/>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CuadroTexto 6">
            <a:extLst>
              <a:ext uri="{FF2B5EF4-FFF2-40B4-BE49-F238E27FC236}">
                <a16:creationId xmlns:a16="http://schemas.microsoft.com/office/drawing/2014/main" id="{AC18BB7F-5AE0-EC17-7EEB-C9059E57EC71}"/>
              </a:ext>
            </a:extLst>
          </p:cNvPr>
          <p:cNvSpPr txBox="1"/>
          <p:nvPr/>
        </p:nvSpPr>
        <p:spPr>
          <a:xfrm>
            <a:off x="1662526" y="1751798"/>
            <a:ext cx="1958109" cy="646331"/>
          </a:xfrm>
          <a:prstGeom prst="rect">
            <a:avLst/>
          </a:prstGeom>
          <a:noFill/>
        </p:spPr>
        <p:txBody>
          <a:bodyPr wrap="square" rtlCol="0">
            <a:spAutoFit/>
          </a:bodyPr>
          <a:lstStyle/>
          <a:p>
            <a:pPr algn="ctr"/>
            <a:r>
              <a:rPr lang="es-ES" dirty="0"/>
              <a:t>AUTENTICACIÓN</a:t>
            </a:r>
          </a:p>
          <a:p>
            <a:pPr algn="ctr"/>
            <a:endParaRPr lang="es-ES" dirty="0"/>
          </a:p>
        </p:txBody>
      </p:sp>
      <p:sp>
        <p:nvSpPr>
          <p:cNvPr id="8" name="Rectángulo: esquinas redondeadas 7">
            <a:extLst>
              <a:ext uri="{FF2B5EF4-FFF2-40B4-BE49-F238E27FC236}">
                <a16:creationId xmlns:a16="http://schemas.microsoft.com/office/drawing/2014/main" id="{6C5C6A8C-7266-1054-3675-21D403ECF2C2}"/>
              </a:ext>
            </a:extLst>
          </p:cNvPr>
          <p:cNvSpPr/>
          <p:nvPr/>
        </p:nvSpPr>
        <p:spPr>
          <a:xfrm>
            <a:off x="1597873" y="3086700"/>
            <a:ext cx="2091390" cy="951337"/>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8A30691C-6AED-C9E9-45DD-732AC3DD3F03}"/>
              </a:ext>
            </a:extLst>
          </p:cNvPr>
          <p:cNvSpPr/>
          <p:nvPr/>
        </p:nvSpPr>
        <p:spPr>
          <a:xfrm>
            <a:off x="1595886" y="4523830"/>
            <a:ext cx="2091390" cy="951337"/>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CuadroTexto 9">
            <a:extLst>
              <a:ext uri="{FF2B5EF4-FFF2-40B4-BE49-F238E27FC236}">
                <a16:creationId xmlns:a16="http://schemas.microsoft.com/office/drawing/2014/main" id="{B2666165-574C-3072-AB90-F68C44B39900}"/>
              </a:ext>
            </a:extLst>
          </p:cNvPr>
          <p:cNvSpPr txBox="1"/>
          <p:nvPr/>
        </p:nvSpPr>
        <p:spPr>
          <a:xfrm>
            <a:off x="1838017" y="3195611"/>
            <a:ext cx="1958109" cy="369332"/>
          </a:xfrm>
          <a:prstGeom prst="rect">
            <a:avLst/>
          </a:prstGeom>
          <a:noFill/>
        </p:spPr>
        <p:txBody>
          <a:bodyPr wrap="square" rtlCol="0">
            <a:spAutoFit/>
          </a:bodyPr>
          <a:lstStyle/>
          <a:p>
            <a:r>
              <a:rPr lang="es-ES" dirty="0"/>
              <a:t>CERTIFICADOS</a:t>
            </a:r>
          </a:p>
        </p:txBody>
      </p:sp>
      <p:sp>
        <p:nvSpPr>
          <p:cNvPr id="11" name="CuadroTexto 10">
            <a:extLst>
              <a:ext uri="{FF2B5EF4-FFF2-40B4-BE49-F238E27FC236}">
                <a16:creationId xmlns:a16="http://schemas.microsoft.com/office/drawing/2014/main" id="{D61D61BF-D21E-D85B-0CFB-FFC5E87800D4}"/>
              </a:ext>
            </a:extLst>
          </p:cNvPr>
          <p:cNvSpPr txBox="1"/>
          <p:nvPr/>
        </p:nvSpPr>
        <p:spPr>
          <a:xfrm>
            <a:off x="2022745" y="4612922"/>
            <a:ext cx="1958109" cy="369332"/>
          </a:xfrm>
          <a:prstGeom prst="rect">
            <a:avLst/>
          </a:prstGeom>
          <a:noFill/>
        </p:spPr>
        <p:txBody>
          <a:bodyPr wrap="square" rtlCol="0">
            <a:spAutoFit/>
          </a:bodyPr>
          <a:lstStyle/>
          <a:p>
            <a:r>
              <a:rPr lang="es-ES" dirty="0"/>
              <a:t>VALIDACIÓN</a:t>
            </a:r>
          </a:p>
        </p:txBody>
      </p:sp>
      <p:sp>
        <p:nvSpPr>
          <p:cNvPr id="12" name="Rectángulo: esquinas redondeadas 11">
            <a:extLst>
              <a:ext uri="{FF2B5EF4-FFF2-40B4-BE49-F238E27FC236}">
                <a16:creationId xmlns:a16="http://schemas.microsoft.com/office/drawing/2014/main" id="{3E077C93-404B-CF65-98F4-FAF3DAB4FF58}"/>
              </a:ext>
            </a:extLst>
          </p:cNvPr>
          <p:cNvSpPr/>
          <p:nvPr/>
        </p:nvSpPr>
        <p:spPr>
          <a:xfrm>
            <a:off x="4761335" y="1637568"/>
            <a:ext cx="5019965" cy="951337"/>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esquinas redondeadas 12">
            <a:extLst>
              <a:ext uri="{FF2B5EF4-FFF2-40B4-BE49-F238E27FC236}">
                <a16:creationId xmlns:a16="http://schemas.microsoft.com/office/drawing/2014/main" id="{2C4DBAEA-2E15-211E-46E0-E8B776CDB875}"/>
              </a:ext>
            </a:extLst>
          </p:cNvPr>
          <p:cNvSpPr/>
          <p:nvPr/>
        </p:nvSpPr>
        <p:spPr>
          <a:xfrm>
            <a:off x="4761335" y="3045622"/>
            <a:ext cx="5019965" cy="951337"/>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esquinas redondeadas 13">
            <a:extLst>
              <a:ext uri="{FF2B5EF4-FFF2-40B4-BE49-F238E27FC236}">
                <a16:creationId xmlns:a16="http://schemas.microsoft.com/office/drawing/2014/main" id="{67FF3E9F-5104-713A-42D7-46C57ED3B322}"/>
              </a:ext>
            </a:extLst>
          </p:cNvPr>
          <p:cNvSpPr/>
          <p:nvPr/>
        </p:nvSpPr>
        <p:spPr>
          <a:xfrm>
            <a:off x="4761335" y="4538736"/>
            <a:ext cx="5019966" cy="951337"/>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50E9E227-5778-D7E3-CE17-A27D516CEAAB}"/>
              </a:ext>
            </a:extLst>
          </p:cNvPr>
          <p:cNvSpPr txBox="1"/>
          <p:nvPr/>
        </p:nvSpPr>
        <p:spPr>
          <a:xfrm>
            <a:off x="5158499" y="1751798"/>
            <a:ext cx="5809673" cy="738664"/>
          </a:xfrm>
          <a:prstGeom prst="rect">
            <a:avLst/>
          </a:prstGeom>
          <a:noFill/>
        </p:spPr>
        <p:txBody>
          <a:bodyPr wrap="square" rtlCol="0">
            <a:spAutoFit/>
          </a:bodyPr>
          <a:lstStyle/>
          <a:p>
            <a:pPr marL="285750" indent="-285750">
              <a:buFont typeface="Arial" panose="020B0604020202020204" pitchFamily="34" charset="0"/>
              <a:buChar char="•"/>
            </a:pPr>
            <a:r>
              <a:rPr lang="es-ES" sz="1400" dirty="0">
                <a:latin typeface="Aptos" panose="020B0004020202020204" pitchFamily="34" charset="0"/>
              </a:rPr>
              <a:t>Verificación de identidad</a:t>
            </a:r>
          </a:p>
          <a:p>
            <a:pPr marL="285750" indent="-285750">
              <a:buFont typeface="Arial" panose="020B0604020202020204" pitchFamily="34" charset="0"/>
              <a:buChar char="•"/>
            </a:pPr>
            <a:r>
              <a:rPr lang="es-ES" sz="1400" dirty="0">
                <a:latin typeface="Aptos" panose="020B0004020202020204" pitchFamily="34" charset="0"/>
              </a:rPr>
              <a:t>Control de acceso</a:t>
            </a:r>
          </a:p>
          <a:p>
            <a:pPr marL="285750" indent="-285750">
              <a:buFont typeface="Arial" panose="020B0604020202020204" pitchFamily="34" charset="0"/>
              <a:buChar char="•"/>
            </a:pPr>
            <a:r>
              <a:rPr lang="es-ES" sz="1400" dirty="0">
                <a:latin typeface="Aptos" panose="020B0004020202020204" pitchFamily="34" charset="0"/>
              </a:rPr>
              <a:t>Usuarios autorizados</a:t>
            </a:r>
          </a:p>
        </p:txBody>
      </p:sp>
      <p:sp>
        <p:nvSpPr>
          <p:cNvPr id="16" name="CuadroTexto 15">
            <a:extLst>
              <a:ext uri="{FF2B5EF4-FFF2-40B4-BE49-F238E27FC236}">
                <a16:creationId xmlns:a16="http://schemas.microsoft.com/office/drawing/2014/main" id="{7E92CF24-17FE-B5FA-134C-6DAAE7F31AF8}"/>
              </a:ext>
            </a:extLst>
          </p:cNvPr>
          <p:cNvSpPr txBox="1"/>
          <p:nvPr/>
        </p:nvSpPr>
        <p:spPr>
          <a:xfrm>
            <a:off x="5158499" y="3168073"/>
            <a:ext cx="5454074" cy="738664"/>
          </a:xfrm>
          <a:prstGeom prst="rect">
            <a:avLst/>
          </a:prstGeom>
          <a:noFill/>
        </p:spPr>
        <p:txBody>
          <a:bodyPr wrap="square" rtlCol="0">
            <a:spAutoFit/>
          </a:bodyPr>
          <a:lstStyle/>
          <a:p>
            <a:pPr marL="285750" indent="-285750">
              <a:buFont typeface="Arial" panose="020B0604020202020204" pitchFamily="34" charset="0"/>
              <a:buChar char="•"/>
            </a:pPr>
            <a:r>
              <a:rPr lang="es-ES" sz="1400" dirty="0">
                <a:latin typeface="Aptos" panose="020B0004020202020204" pitchFamily="34" charset="0"/>
              </a:rPr>
              <a:t>Firma digital</a:t>
            </a:r>
          </a:p>
          <a:p>
            <a:pPr marL="285750" indent="-285750">
              <a:buFont typeface="Arial" panose="020B0604020202020204" pitchFamily="34" charset="0"/>
              <a:buChar char="•"/>
            </a:pPr>
            <a:r>
              <a:rPr lang="es-ES" sz="1400" dirty="0">
                <a:latin typeface="Aptos" panose="020B0004020202020204" pitchFamily="34" charset="0"/>
              </a:rPr>
              <a:t>Certificados Electrónicos</a:t>
            </a:r>
          </a:p>
          <a:p>
            <a:pPr marL="285750" indent="-285750">
              <a:buFont typeface="Arial" panose="020B0604020202020204" pitchFamily="34" charset="0"/>
              <a:buChar char="•"/>
            </a:pPr>
            <a:r>
              <a:rPr lang="es-ES" sz="1400" dirty="0">
                <a:latin typeface="Aptos" panose="020B0004020202020204" pitchFamily="34" charset="0"/>
              </a:rPr>
              <a:t>Autoridad certificadora</a:t>
            </a:r>
          </a:p>
        </p:txBody>
      </p:sp>
      <p:sp>
        <p:nvSpPr>
          <p:cNvPr id="17" name="CuadroTexto 16">
            <a:extLst>
              <a:ext uri="{FF2B5EF4-FFF2-40B4-BE49-F238E27FC236}">
                <a16:creationId xmlns:a16="http://schemas.microsoft.com/office/drawing/2014/main" id="{98424F8B-6ADE-A141-4816-6E650830CE4D}"/>
              </a:ext>
            </a:extLst>
          </p:cNvPr>
          <p:cNvSpPr txBox="1"/>
          <p:nvPr/>
        </p:nvSpPr>
        <p:spPr>
          <a:xfrm>
            <a:off x="5158498" y="4636206"/>
            <a:ext cx="5546437" cy="738664"/>
          </a:xfrm>
          <a:prstGeom prst="rect">
            <a:avLst/>
          </a:prstGeom>
          <a:noFill/>
        </p:spPr>
        <p:txBody>
          <a:bodyPr wrap="square" rtlCol="0">
            <a:spAutoFit/>
          </a:bodyPr>
          <a:lstStyle/>
          <a:p>
            <a:pPr marL="285750" indent="-285750">
              <a:buFont typeface="Arial" panose="020B0604020202020204" pitchFamily="34" charset="0"/>
              <a:buChar char="•"/>
            </a:pPr>
            <a:r>
              <a:rPr lang="es-ES" sz="1400" dirty="0">
                <a:latin typeface="Aptos" panose="020B0004020202020204" pitchFamily="34" charset="0"/>
              </a:rPr>
              <a:t>Integridad</a:t>
            </a:r>
          </a:p>
          <a:p>
            <a:pPr marL="285750" indent="-285750">
              <a:buFont typeface="Arial" panose="020B0604020202020204" pitchFamily="34" charset="0"/>
              <a:buChar char="•"/>
            </a:pPr>
            <a:r>
              <a:rPr lang="es-ES" sz="1400" dirty="0">
                <a:latin typeface="Aptos" panose="020B0004020202020204" pitchFamily="34" charset="0"/>
              </a:rPr>
              <a:t>Comprobación</a:t>
            </a:r>
          </a:p>
          <a:p>
            <a:pPr marL="285750" indent="-285750">
              <a:buFont typeface="Arial" panose="020B0604020202020204" pitchFamily="34" charset="0"/>
              <a:buChar char="•"/>
            </a:pPr>
            <a:r>
              <a:rPr lang="es-ES" sz="1400" dirty="0">
                <a:latin typeface="Aptos" panose="020B0004020202020204" pitchFamily="34" charset="0"/>
              </a:rPr>
              <a:t>Trazabilidad</a:t>
            </a:r>
          </a:p>
        </p:txBody>
      </p:sp>
      <p:sp>
        <p:nvSpPr>
          <p:cNvPr id="18" name="CuadroTexto 17">
            <a:extLst>
              <a:ext uri="{FF2B5EF4-FFF2-40B4-BE49-F238E27FC236}">
                <a16:creationId xmlns:a16="http://schemas.microsoft.com/office/drawing/2014/main" id="{175F19C3-216E-9F1A-BE42-84BE3C3A7EFA}"/>
              </a:ext>
            </a:extLst>
          </p:cNvPr>
          <p:cNvSpPr txBox="1"/>
          <p:nvPr/>
        </p:nvSpPr>
        <p:spPr>
          <a:xfrm>
            <a:off x="1838017" y="5943026"/>
            <a:ext cx="10086109" cy="261610"/>
          </a:xfrm>
          <a:prstGeom prst="rect">
            <a:avLst/>
          </a:prstGeom>
          <a:noFill/>
        </p:spPr>
        <p:txBody>
          <a:bodyPr wrap="square" rtlCol="0">
            <a:spAutoFit/>
          </a:bodyPr>
          <a:lstStyle/>
          <a:p>
            <a:r>
              <a:rPr lang="es-ES" sz="1100" dirty="0">
                <a:latin typeface="Aptos" panose="020B0004020202020204" pitchFamily="34" charset="0"/>
              </a:rPr>
              <a:t>La seguridad del proceso electoral se apoya en mecanismos de autenticación, firma digital y validación basados en certificados.</a:t>
            </a:r>
          </a:p>
        </p:txBody>
      </p:sp>
      <p:pic>
        <p:nvPicPr>
          <p:cNvPr id="20" name="Gráfico 19" descr="Bloquear contorno">
            <a:extLst>
              <a:ext uri="{FF2B5EF4-FFF2-40B4-BE49-F238E27FC236}">
                <a16:creationId xmlns:a16="http://schemas.microsoft.com/office/drawing/2014/main" id="{F1EC0180-9239-07EB-6286-FB60EE921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4910" y="2051391"/>
            <a:ext cx="553340" cy="553340"/>
          </a:xfrm>
          <a:prstGeom prst="rect">
            <a:avLst/>
          </a:prstGeom>
        </p:spPr>
      </p:pic>
      <p:pic>
        <p:nvPicPr>
          <p:cNvPr id="22" name="Gráfico 21" descr="Rollo de diplomas contorno">
            <a:extLst>
              <a:ext uri="{FF2B5EF4-FFF2-40B4-BE49-F238E27FC236}">
                <a16:creationId xmlns:a16="http://schemas.microsoft.com/office/drawing/2014/main" id="{F5FFD85F-6B43-C21E-32E6-2F11616838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0914" y="3460761"/>
            <a:ext cx="641332" cy="641332"/>
          </a:xfrm>
          <a:prstGeom prst="rect">
            <a:avLst/>
          </a:prstGeom>
        </p:spPr>
      </p:pic>
      <p:pic>
        <p:nvPicPr>
          <p:cNvPr id="24" name="Gráfico 23" descr="Completado contorno">
            <a:extLst>
              <a:ext uri="{FF2B5EF4-FFF2-40B4-BE49-F238E27FC236}">
                <a16:creationId xmlns:a16="http://schemas.microsoft.com/office/drawing/2014/main" id="{EC544670-72ED-147D-AB98-685236FF80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54577" y="4751230"/>
            <a:ext cx="914400" cy="914400"/>
          </a:xfrm>
          <a:prstGeom prst="rect">
            <a:avLst/>
          </a:prstGeom>
        </p:spPr>
      </p:pic>
    </p:spTree>
    <p:extLst>
      <p:ext uri="{BB962C8B-B14F-4D97-AF65-F5344CB8AC3E}">
        <p14:creationId xmlns:p14="http://schemas.microsoft.com/office/powerpoint/2010/main" val="2489306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45A8B-52BA-099F-6B31-2A1049CFFB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AF54E9-9F9B-B9CD-5576-0842647BB9C8}"/>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DISEÑO DE DATOS</a:t>
            </a:r>
          </a:p>
        </p:txBody>
      </p:sp>
      <p:sp>
        <p:nvSpPr>
          <p:cNvPr id="3" name="Subtítulo 2">
            <a:extLst>
              <a:ext uri="{FF2B5EF4-FFF2-40B4-BE49-F238E27FC236}">
                <a16:creationId xmlns:a16="http://schemas.microsoft.com/office/drawing/2014/main" id="{E0F7633C-D601-E20D-C3CB-89A879F99014}"/>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84705272-3C91-0233-7FE1-9ADE3A6D96EC}"/>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8</a:t>
            </a:fld>
            <a:endParaRPr lang="es-ES" dirty="0"/>
          </a:p>
        </p:txBody>
      </p:sp>
      <p:cxnSp>
        <p:nvCxnSpPr>
          <p:cNvPr id="6" name="Conector recto 5">
            <a:extLst>
              <a:ext uri="{FF2B5EF4-FFF2-40B4-BE49-F238E27FC236}">
                <a16:creationId xmlns:a16="http://schemas.microsoft.com/office/drawing/2014/main" id="{ABEBB849-6C73-C1A9-C176-098863E328D5}"/>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7FD819D8-8237-AE11-D6AF-CC5D1EF64BC4}"/>
              </a:ext>
            </a:extLst>
          </p:cNvPr>
          <p:cNvSpPr/>
          <p:nvPr/>
        </p:nvSpPr>
        <p:spPr>
          <a:xfrm>
            <a:off x="4845794" y="2733964"/>
            <a:ext cx="2027152" cy="7089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94BE90FE-AE8C-CF73-FF14-30F69528A260}"/>
              </a:ext>
            </a:extLst>
          </p:cNvPr>
          <p:cNvSpPr txBox="1"/>
          <p:nvPr/>
        </p:nvSpPr>
        <p:spPr>
          <a:xfrm>
            <a:off x="5285063" y="2903763"/>
            <a:ext cx="1874520" cy="369332"/>
          </a:xfrm>
          <a:prstGeom prst="rect">
            <a:avLst/>
          </a:prstGeom>
          <a:noFill/>
        </p:spPr>
        <p:txBody>
          <a:bodyPr wrap="square" rtlCol="0">
            <a:spAutoFit/>
          </a:bodyPr>
          <a:lstStyle/>
          <a:p>
            <a:r>
              <a:rPr lang="es-ES" dirty="0">
                <a:solidFill>
                  <a:schemeClr val="bg1"/>
                </a:solidFill>
              </a:rPr>
              <a:t>VOTACIÓN</a:t>
            </a:r>
          </a:p>
        </p:txBody>
      </p:sp>
      <p:sp>
        <p:nvSpPr>
          <p:cNvPr id="11" name="Rectángulo: esquinas redondeadas 10">
            <a:extLst>
              <a:ext uri="{FF2B5EF4-FFF2-40B4-BE49-F238E27FC236}">
                <a16:creationId xmlns:a16="http://schemas.microsoft.com/office/drawing/2014/main" id="{04034577-6BD3-95E1-101E-011BADB198D4}"/>
              </a:ext>
            </a:extLst>
          </p:cNvPr>
          <p:cNvSpPr/>
          <p:nvPr/>
        </p:nvSpPr>
        <p:spPr>
          <a:xfrm>
            <a:off x="4922058" y="1995258"/>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6BEEC8FE-EC3C-E141-D183-FB3E9E0E0366}"/>
              </a:ext>
            </a:extLst>
          </p:cNvPr>
          <p:cNvSpPr/>
          <p:nvPr/>
        </p:nvSpPr>
        <p:spPr>
          <a:xfrm>
            <a:off x="4922058" y="1232892"/>
            <a:ext cx="1878030" cy="614372"/>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BC52DEDE-64B5-E4E3-0EDE-059677202A67}"/>
              </a:ext>
            </a:extLst>
          </p:cNvPr>
          <p:cNvSpPr txBox="1"/>
          <p:nvPr/>
        </p:nvSpPr>
        <p:spPr>
          <a:xfrm>
            <a:off x="5385647" y="1376054"/>
            <a:ext cx="950851" cy="338554"/>
          </a:xfrm>
          <a:prstGeom prst="rect">
            <a:avLst/>
          </a:prstGeom>
          <a:noFill/>
        </p:spPr>
        <p:txBody>
          <a:bodyPr wrap="square" rtlCol="0">
            <a:spAutoFit/>
          </a:bodyPr>
          <a:lstStyle/>
          <a:p>
            <a:pPr algn="ctr"/>
            <a:r>
              <a:rPr lang="es-ES" sz="1600" dirty="0"/>
              <a:t>USUARIO</a:t>
            </a:r>
          </a:p>
        </p:txBody>
      </p:sp>
      <p:sp>
        <p:nvSpPr>
          <p:cNvPr id="27" name="CuadroTexto 26">
            <a:extLst>
              <a:ext uri="{FF2B5EF4-FFF2-40B4-BE49-F238E27FC236}">
                <a16:creationId xmlns:a16="http://schemas.microsoft.com/office/drawing/2014/main" id="{B73F5FC4-E146-263B-6AED-4E6C236611F0}"/>
              </a:ext>
            </a:extLst>
          </p:cNvPr>
          <p:cNvSpPr txBox="1"/>
          <p:nvPr/>
        </p:nvSpPr>
        <p:spPr>
          <a:xfrm>
            <a:off x="5038112" y="2086754"/>
            <a:ext cx="1645920" cy="338554"/>
          </a:xfrm>
          <a:prstGeom prst="rect">
            <a:avLst/>
          </a:prstGeom>
          <a:noFill/>
        </p:spPr>
        <p:txBody>
          <a:bodyPr wrap="square" rtlCol="0">
            <a:spAutoFit/>
          </a:bodyPr>
          <a:lstStyle/>
          <a:p>
            <a:pPr algn="ctr"/>
            <a:r>
              <a:rPr lang="es-ES" sz="1600" dirty="0"/>
              <a:t>CENSO</a:t>
            </a:r>
          </a:p>
        </p:txBody>
      </p:sp>
      <p:sp>
        <p:nvSpPr>
          <p:cNvPr id="29" name="Rectángulo: esquinas redondeadas 28">
            <a:extLst>
              <a:ext uri="{FF2B5EF4-FFF2-40B4-BE49-F238E27FC236}">
                <a16:creationId xmlns:a16="http://schemas.microsoft.com/office/drawing/2014/main" id="{71975A8C-BE31-97B8-BA12-2FA6A2C01691}"/>
              </a:ext>
            </a:extLst>
          </p:cNvPr>
          <p:cNvSpPr/>
          <p:nvPr/>
        </p:nvSpPr>
        <p:spPr>
          <a:xfrm>
            <a:off x="1828338" y="3633123"/>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esquinas redondeadas 29">
            <a:extLst>
              <a:ext uri="{FF2B5EF4-FFF2-40B4-BE49-F238E27FC236}">
                <a16:creationId xmlns:a16="http://schemas.microsoft.com/office/drawing/2014/main" id="{AF67ADB8-5BE8-DD86-F50D-A1B2FD42BFC7}"/>
              </a:ext>
            </a:extLst>
          </p:cNvPr>
          <p:cNvSpPr/>
          <p:nvPr/>
        </p:nvSpPr>
        <p:spPr>
          <a:xfrm>
            <a:off x="4922520" y="3619483"/>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A899FE7A-FD44-2FC1-B99E-26D25BFE52B6}"/>
              </a:ext>
            </a:extLst>
          </p:cNvPr>
          <p:cNvSpPr/>
          <p:nvPr/>
        </p:nvSpPr>
        <p:spPr>
          <a:xfrm>
            <a:off x="7980126" y="3614835"/>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esquinas redondeadas 31">
            <a:extLst>
              <a:ext uri="{FF2B5EF4-FFF2-40B4-BE49-F238E27FC236}">
                <a16:creationId xmlns:a16="http://schemas.microsoft.com/office/drawing/2014/main" id="{97D1EFBF-8C46-B055-85A0-2FD8D9427E27}"/>
              </a:ext>
            </a:extLst>
          </p:cNvPr>
          <p:cNvSpPr/>
          <p:nvPr/>
        </p:nvSpPr>
        <p:spPr>
          <a:xfrm>
            <a:off x="4931664" y="4593172"/>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esquinas redondeadas 32">
            <a:extLst>
              <a:ext uri="{FF2B5EF4-FFF2-40B4-BE49-F238E27FC236}">
                <a16:creationId xmlns:a16="http://schemas.microsoft.com/office/drawing/2014/main" id="{193B913A-7F19-A58B-5482-F5A90719A2E7}"/>
              </a:ext>
            </a:extLst>
          </p:cNvPr>
          <p:cNvSpPr/>
          <p:nvPr/>
        </p:nvSpPr>
        <p:spPr>
          <a:xfrm>
            <a:off x="4931202" y="5476743"/>
            <a:ext cx="1878030" cy="605579"/>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B35A6948-9E56-0493-C25D-E16EC908351F}"/>
              </a:ext>
            </a:extLst>
          </p:cNvPr>
          <p:cNvSpPr txBox="1"/>
          <p:nvPr/>
        </p:nvSpPr>
        <p:spPr>
          <a:xfrm>
            <a:off x="1919778" y="3769456"/>
            <a:ext cx="1878030" cy="338554"/>
          </a:xfrm>
          <a:prstGeom prst="rect">
            <a:avLst/>
          </a:prstGeom>
          <a:noFill/>
        </p:spPr>
        <p:txBody>
          <a:bodyPr wrap="square" rtlCol="0">
            <a:spAutoFit/>
          </a:bodyPr>
          <a:lstStyle/>
          <a:p>
            <a:r>
              <a:rPr lang="es-ES" sz="1600" dirty="0"/>
              <a:t>JUNTA ELECTORAL</a:t>
            </a:r>
          </a:p>
        </p:txBody>
      </p:sp>
      <p:sp>
        <p:nvSpPr>
          <p:cNvPr id="35" name="CuadroTexto 34">
            <a:extLst>
              <a:ext uri="{FF2B5EF4-FFF2-40B4-BE49-F238E27FC236}">
                <a16:creationId xmlns:a16="http://schemas.microsoft.com/office/drawing/2014/main" id="{FD9902FF-D928-6AED-CAC1-E4BACEEBAED8}"/>
              </a:ext>
            </a:extLst>
          </p:cNvPr>
          <p:cNvSpPr txBox="1"/>
          <p:nvPr/>
        </p:nvSpPr>
        <p:spPr>
          <a:xfrm>
            <a:off x="5138464" y="3758436"/>
            <a:ext cx="1573000" cy="338554"/>
          </a:xfrm>
          <a:prstGeom prst="rect">
            <a:avLst/>
          </a:prstGeom>
          <a:noFill/>
        </p:spPr>
        <p:txBody>
          <a:bodyPr wrap="square" rtlCol="0">
            <a:spAutoFit/>
          </a:bodyPr>
          <a:lstStyle/>
          <a:p>
            <a:r>
              <a:rPr lang="es-ES" sz="1600" dirty="0"/>
              <a:t>CANDIDATURA</a:t>
            </a:r>
          </a:p>
        </p:txBody>
      </p:sp>
      <p:sp>
        <p:nvSpPr>
          <p:cNvPr id="36" name="CuadroTexto 35">
            <a:extLst>
              <a:ext uri="{FF2B5EF4-FFF2-40B4-BE49-F238E27FC236}">
                <a16:creationId xmlns:a16="http://schemas.microsoft.com/office/drawing/2014/main" id="{4A8DACFD-FFCC-3592-B326-7270C79C9236}"/>
              </a:ext>
            </a:extLst>
          </p:cNvPr>
          <p:cNvSpPr txBox="1"/>
          <p:nvPr/>
        </p:nvSpPr>
        <p:spPr>
          <a:xfrm>
            <a:off x="8065008" y="3758436"/>
            <a:ext cx="1691640" cy="338554"/>
          </a:xfrm>
          <a:prstGeom prst="rect">
            <a:avLst/>
          </a:prstGeom>
          <a:noFill/>
        </p:spPr>
        <p:txBody>
          <a:bodyPr wrap="square" rtlCol="0">
            <a:spAutoFit/>
          </a:bodyPr>
          <a:lstStyle/>
          <a:p>
            <a:r>
              <a:rPr lang="es-ES" sz="1600" dirty="0"/>
              <a:t>MESA ELECTORAL</a:t>
            </a:r>
          </a:p>
        </p:txBody>
      </p:sp>
      <p:sp>
        <p:nvSpPr>
          <p:cNvPr id="37" name="CuadroTexto 36">
            <a:extLst>
              <a:ext uri="{FF2B5EF4-FFF2-40B4-BE49-F238E27FC236}">
                <a16:creationId xmlns:a16="http://schemas.microsoft.com/office/drawing/2014/main" id="{F8496383-AAA9-779E-21A0-B09A8A9A6BB6}"/>
              </a:ext>
            </a:extLst>
          </p:cNvPr>
          <p:cNvSpPr txBox="1"/>
          <p:nvPr/>
        </p:nvSpPr>
        <p:spPr>
          <a:xfrm>
            <a:off x="5476846" y="4743579"/>
            <a:ext cx="1554712" cy="338554"/>
          </a:xfrm>
          <a:prstGeom prst="rect">
            <a:avLst/>
          </a:prstGeom>
          <a:noFill/>
        </p:spPr>
        <p:txBody>
          <a:bodyPr wrap="square" rtlCol="0">
            <a:spAutoFit/>
          </a:bodyPr>
          <a:lstStyle/>
          <a:p>
            <a:r>
              <a:rPr lang="es-ES" sz="1600" dirty="0"/>
              <a:t>VOTO</a:t>
            </a:r>
          </a:p>
        </p:txBody>
      </p:sp>
      <p:sp>
        <p:nvSpPr>
          <p:cNvPr id="38" name="CuadroTexto 37">
            <a:extLst>
              <a:ext uri="{FF2B5EF4-FFF2-40B4-BE49-F238E27FC236}">
                <a16:creationId xmlns:a16="http://schemas.microsoft.com/office/drawing/2014/main" id="{E4445891-0E48-CF27-7376-BA9146CA42D0}"/>
              </a:ext>
            </a:extLst>
          </p:cNvPr>
          <p:cNvSpPr txBox="1"/>
          <p:nvPr/>
        </p:nvSpPr>
        <p:spPr>
          <a:xfrm>
            <a:off x="5285063" y="5593361"/>
            <a:ext cx="1463504" cy="338554"/>
          </a:xfrm>
          <a:prstGeom prst="rect">
            <a:avLst/>
          </a:prstGeom>
          <a:noFill/>
        </p:spPr>
        <p:txBody>
          <a:bodyPr wrap="square" rtlCol="0">
            <a:spAutoFit/>
          </a:bodyPr>
          <a:lstStyle/>
          <a:p>
            <a:r>
              <a:rPr lang="es-ES" sz="1600" dirty="0"/>
              <a:t>RESULTADO</a:t>
            </a:r>
          </a:p>
        </p:txBody>
      </p:sp>
      <p:cxnSp>
        <p:nvCxnSpPr>
          <p:cNvPr id="40" name="Conector recto de flecha 39">
            <a:extLst>
              <a:ext uri="{FF2B5EF4-FFF2-40B4-BE49-F238E27FC236}">
                <a16:creationId xmlns:a16="http://schemas.microsoft.com/office/drawing/2014/main" id="{08832353-9C4C-7E7F-190B-F045A089E683}"/>
              </a:ext>
            </a:extLst>
          </p:cNvPr>
          <p:cNvCxnSpPr>
            <a:stCxn id="12" idx="2"/>
            <a:endCxn id="11" idx="0"/>
          </p:cNvCxnSpPr>
          <p:nvPr/>
        </p:nvCxnSpPr>
        <p:spPr>
          <a:xfrm>
            <a:off x="5861073" y="1847264"/>
            <a:ext cx="0" cy="147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5D7E0C76-0222-8995-6AEB-BA24A1FE977F}"/>
              </a:ext>
            </a:extLst>
          </p:cNvPr>
          <p:cNvCxnSpPr>
            <a:stCxn id="11" idx="2"/>
            <a:endCxn id="5" idx="0"/>
          </p:cNvCxnSpPr>
          <p:nvPr/>
        </p:nvCxnSpPr>
        <p:spPr>
          <a:xfrm flipH="1">
            <a:off x="5859370" y="2600837"/>
            <a:ext cx="1703" cy="133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91A73D71-EF67-FEF2-085B-06830E10693C}"/>
              </a:ext>
            </a:extLst>
          </p:cNvPr>
          <p:cNvCxnSpPr>
            <a:stCxn id="5" idx="2"/>
            <a:endCxn id="30" idx="0"/>
          </p:cNvCxnSpPr>
          <p:nvPr/>
        </p:nvCxnSpPr>
        <p:spPr>
          <a:xfrm>
            <a:off x="5859370" y="3442894"/>
            <a:ext cx="2165" cy="176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F19E2094-21E5-DDFD-B70E-8E00D9B756E9}"/>
              </a:ext>
            </a:extLst>
          </p:cNvPr>
          <p:cNvCxnSpPr>
            <a:stCxn id="5" idx="1"/>
            <a:endCxn id="29" idx="0"/>
          </p:cNvCxnSpPr>
          <p:nvPr/>
        </p:nvCxnSpPr>
        <p:spPr>
          <a:xfrm flipH="1">
            <a:off x="2767353" y="3088429"/>
            <a:ext cx="2078441" cy="544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7D3A4A2D-C677-7C11-87CD-6DCA7DA8B2D4}"/>
              </a:ext>
            </a:extLst>
          </p:cNvPr>
          <p:cNvCxnSpPr>
            <a:endCxn id="31" idx="0"/>
          </p:cNvCxnSpPr>
          <p:nvPr/>
        </p:nvCxnSpPr>
        <p:spPr>
          <a:xfrm>
            <a:off x="6872946" y="3088429"/>
            <a:ext cx="2046195" cy="526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D6D8AD32-E20E-2049-E4DA-65C87291B70C}"/>
              </a:ext>
            </a:extLst>
          </p:cNvPr>
          <p:cNvCxnSpPr>
            <a:stCxn id="30" idx="2"/>
            <a:endCxn id="32" idx="0"/>
          </p:cNvCxnSpPr>
          <p:nvPr/>
        </p:nvCxnSpPr>
        <p:spPr>
          <a:xfrm>
            <a:off x="5861535" y="4225062"/>
            <a:ext cx="9144" cy="368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33D0ABF6-78D2-D45B-1929-82C6CEBDA909}"/>
              </a:ext>
            </a:extLst>
          </p:cNvPr>
          <p:cNvCxnSpPr>
            <a:stCxn id="32" idx="2"/>
            <a:endCxn id="33" idx="0"/>
          </p:cNvCxnSpPr>
          <p:nvPr/>
        </p:nvCxnSpPr>
        <p:spPr>
          <a:xfrm flipH="1">
            <a:off x="5870217" y="5198751"/>
            <a:ext cx="462" cy="277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CuadroTexto 56">
            <a:extLst>
              <a:ext uri="{FF2B5EF4-FFF2-40B4-BE49-F238E27FC236}">
                <a16:creationId xmlns:a16="http://schemas.microsoft.com/office/drawing/2014/main" id="{D0D2C4F1-6653-E190-7744-08D80630C67C}"/>
              </a:ext>
            </a:extLst>
          </p:cNvPr>
          <p:cNvSpPr txBox="1"/>
          <p:nvPr/>
        </p:nvSpPr>
        <p:spPr>
          <a:xfrm>
            <a:off x="1073558" y="6082322"/>
            <a:ext cx="11220948" cy="276999"/>
          </a:xfrm>
          <a:prstGeom prst="rect">
            <a:avLst/>
          </a:prstGeom>
          <a:noFill/>
        </p:spPr>
        <p:txBody>
          <a:bodyPr wrap="square" rtlCol="0">
            <a:spAutoFit/>
          </a:bodyPr>
          <a:lstStyle/>
          <a:p>
            <a:r>
              <a:rPr lang="es-ES" sz="1200" dirty="0">
                <a:latin typeface="Aptos" panose="020B0004020202020204" pitchFamily="34" charset="0"/>
              </a:rPr>
              <a:t>La entidad votación actúa como núcleo del modelo de datos, relacionando participantes, candidaturas, junta electoral, mesa electoral, votos y resultados.</a:t>
            </a:r>
          </a:p>
        </p:txBody>
      </p:sp>
    </p:spTree>
    <p:extLst>
      <p:ext uri="{BB962C8B-B14F-4D97-AF65-F5344CB8AC3E}">
        <p14:creationId xmlns:p14="http://schemas.microsoft.com/office/powerpoint/2010/main" val="309731368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7A17F-1FEC-0683-E728-0295C65E3B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53FFDD-DFBF-BB49-68A7-5D12C8C1BF6D}"/>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TECNOLOGIAS USADAS</a:t>
            </a:r>
          </a:p>
        </p:txBody>
      </p:sp>
      <p:sp>
        <p:nvSpPr>
          <p:cNvPr id="3" name="Subtítulo 2">
            <a:extLst>
              <a:ext uri="{FF2B5EF4-FFF2-40B4-BE49-F238E27FC236}">
                <a16:creationId xmlns:a16="http://schemas.microsoft.com/office/drawing/2014/main" id="{BF553C64-974B-742B-AB6C-841361121745}"/>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EFD20C38-9A4A-61BC-2978-1843F850BC32}"/>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9</a:t>
            </a:fld>
            <a:endParaRPr lang="es-ES" dirty="0"/>
          </a:p>
        </p:txBody>
      </p:sp>
      <p:cxnSp>
        <p:nvCxnSpPr>
          <p:cNvPr id="6" name="Conector recto 5">
            <a:extLst>
              <a:ext uri="{FF2B5EF4-FFF2-40B4-BE49-F238E27FC236}">
                <a16:creationId xmlns:a16="http://schemas.microsoft.com/office/drawing/2014/main" id="{32A28680-3058-5733-D14B-C6A1CFC361BE}"/>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Python Logo PNG Transparent Background Images | pngteam.com">
            <a:extLst>
              <a:ext uri="{FF2B5EF4-FFF2-40B4-BE49-F238E27FC236}">
                <a16:creationId xmlns:a16="http://schemas.microsoft.com/office/drawing/2014/main" id="{116F280B-A0A0-068D-B718-387F0A462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120" y="1662208"/>
            <a:ext cx="960062" cy="960062"/>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esquinas redondeadas 4">
            <a:extLst>
              <a:ext uri="{FF2B5EF4-FFF2-40B4-BE49-F238E27FC236}">
                <a16:creationId xmlns:a16="http://schemas.microsoft.com/office/drawing/2014/main" id="{D6FC1150-A9C7-4E97-8F1D-D12948D37CFA}"/>
              </a:ext>
            </a:extLst>
          </p:cNvPr>
          <p:cNvSpPr/>
          <p:nvPr/>
        </p:nvSpPr>
        <p:spPr>
          <a:xfrm>
            <a:off x="2837226" y="1664265"/>
            <a:ext cx="2274270" cy="79131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8" name="Picture 4" descr="Django Community | Django">
            <a:extLst>
              <a:ext uri="{FF2B5EF4-FFF2-40B4-BE49-F238E27FC236}">
                <a16:creationId xmlns:a16="http://schemas.microsoft.com/office/drawing/2014/main" id="{A2EAD331-470E-427D-1748-CCE33AA8A6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389" y="3257463"/>
            <a:ext cx="1140133" cy="518760"/>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esquinas redondeadas 6">
            <a:extLst>
              <a:ext uri="{FF2B5EF4-FFF2-40B4-BE49-F238E27FC236}">
                <a16:creationId xmlns:a16="http://schemas.microsoft.com/office/drawing/2014/main" id="{BABA0A59-518D-3251-ABD9-A2C25F52FA94}"/>
              </a:ext>
            </a:extLst>
          </p:cNvPr>
          <p:cNvSpPr/>
          <p:nvPr/>
        </p:nvSpPr>
        <p:spPr>
          <a:xfrm>
            <a:off x="2837226" y="3134640"/>
            <a:ext cx="2274270" cy="79131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30" name="Picture 6" descr="Bootstrap Logo PNG Vector (EPS) Free Download">
            <a:extLst>
              <a:ext uri="{FF2B5EF4-FFF2-40B4-BE49-F238E27FC236}">
                <a16:creationId xmlns:a16="http://schemas.microsoft.com/office/drawing/2014/main" id="{4B7EDCFA-A621-DA57-3199-B1FAA2FA76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6671" y="4261119"/>
            <a:ext cx="1273473" cy="127347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DA4373DD-6253-2B35-9EE3-5A1ADE53E1DB}"/>
              </a:ext>
            </a:extLst>
          </p:cNvPr>
          <p:cNvSpPr/>
          <p:nvPr/>
        </p:nvSpPr>
        <p:spPr>
          <a:xfrm>
            <a:off x="2837226" y="4502198"/>
            <a:ext cx="2274270" cy="79131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32" name="Picture 8" descr="PostgreSQL — Fedora Developer Portal">
            <a:extLst>
              <a:ext uri="{FF2B5EF4-FFF2-40B4-BE49-F238E27FC236}">
                <a16:creationId xmlns:a16="http://schemas.microsoft.com/office/drawing/2014/main" id="{6193CF88-9FCD-C72C-F39C-2C79090276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5560" y="1602721"/>
            <a:ext cx="1093937" cy="1093937"/>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esquinas redondeadas 8">
            <a:extLst>
              <a:ext uri="{FF2B5EF4-FFF2-40B4-BE49-F238E27FC236}">
                <a16:creationId xmlns:a16="http://schemas.microsoft.com/office/drawing/2014/main" id="{28FB576E-CE74-7FA4-B5E7-E158D430E75A}"/>
              </a:ext>
            </a:extLst>
          </p:cNvPr>
          <p:cNvSpPr/>
          <p:nvPr/>
        </p:nvSpPr>
        <p:spPr>
          <a:xfrm>
            <a:off x="7626096" y="1662208"/>
            <a:ext cx="2274270" cy="79131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Gráfico 10" descr="Rollo de diplomas contorno">
            <a:extLst>
              <a:ext uri="{FF2B5EF4-FFF2-40B4-BE49-F238E27FC236}">
                <a16:creationId xmlns:a16="http://schemas.microsoft.com/office/drawing/2014/main" id="{1EF4DB79-2A87-F4A5-A7ED-CF5CDF8FD8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1945" y="3059643"/>
            <a:ext cx="914400" cy="914400"/>
          </a:xfrm>
          <a:prstGeom prst="rect">
            <a:avLst/>
          </a:prstGeom>
        </p:spPr>
      </p:pic>
      <p:sp>
        <p:nvSpPr>
          <p:cNvPr id="12" name="Rectángulo: esquinas redondeadas 11">
            <a:extLst>
              <a:ext uri="{FF2B5EF4-FFF2-40B4-BE49-F238E27FC236}">
                <a16:creationId xmlns:a16="http://schemas.microsoft.com/office/drawing/2014/main" id="{0BC66794-3054-F238-C632-6356FAE3D174}"/>
              </a:ext>
            </a:extLst>
          </p:cNvPr>
          <p:cNvSpPr/>
          <p:nvPr/>
        </p:nvSpPr>
        <p:spPr>
          <a:xfrm>
            <a:off x="7626096" y="3087468"/>
            <a:ext cx="2274270" cy="791314"/>
          </a:xfrm>
          <a:prstGeom prst="roundRect">
            <a:avLst/>
          </a:prstGeom>
          <a:no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33CA9F0F-5213-4C59-373E-37F8293BEFA9}"/>
              </a:ext>
            </a:extLst>
          </p:cNvPr>
          <p:cNvSpPr txBox="1"/>
          <p:nvPr/>
        </p:nvSpPr>
        <p:spPr>
          <a:xfrm>
            <a:off x="2837226" y="1728216"/>
            <a:ext cx="2274270" cy="646331"/>
          </a:xfrm>
          <a:prstGeom prst="rect">
            <a:avLst/>
          </a:prstGeom>
          <a:noFill/>
        </p:spPr>
        <p:txBody>
          <a:bodyPr wrap="square" rtlCol="0">
            <a:spAutoFit/>
          </a:bodyPr>
          <a:lstStyle/>
          <a:p>
            <a:pPr algn="ctr"/>
            <a:r>
              <a:rPr lang="es-ES" u="sng" dirty="0"/>
              <a:t>Python</a:t>
            </a:r>
          </a:p>
          <a:p>
            <a:pPr algn="ctr"/>
            <a:r>
              <a:rPr lang="es-ES" dirty="0"/>
              <a:t>Lenguaje principal</a:t>
            </a:r>
          </a:p>
        </p:txBody>
      </p:sp>
      <p:sp>
        <p:nvSpPr>
          <p:cNvPr id="14" name="CuadroTexto 13">
            <a:extLst>
              <a:ext uri="{FF2B5EF4-FFF2-40B4-BE49-F238E27FC236}">
                <a16:creationId xmlns:a16="http://schemas.microsoft.com/office/drawing/2014/main" id="{684B852D-604F-09AF-E8B3-190D98A5565E}"/>
              </a:ext>
            </a:extLst>
          </p:cNvPr>
          <p:cNvSpPr txBox="1"/>
          <p:nvPr/>
        </p:nvSpPr>
        <p:spPr>
          <a:xfrm>
            <a:off x="2837226" y="3257463"/>
            <a:ext cx="2274270" cy="646331"/>
          </a:xfrm>
          <a:prstGeom prst="rect">
            <a:avLst/>
          </a:prstGeom>
          <a:noFill/>
        </p:spPr>
        <p:txBody>
          <a:bodyPr wrap="square" rtlCol="0">
            <a:spAutoFit/>
          </a:bodyPr>
          <a:lstStyle/>
          <a:p>
            <a:pPr algn="ctr"/>
            <a:r>
              <a:rPr lang="es-ES" u="sng" dirty="0"/>
              <a:t>Django</a:t>
            </a:r>
          </a:p>
          <a:p>
            <a:pPr algn="ctr"/>
            <a:r>
              <a:rPr lang="es-ES" dirty="0"/>
              <a:t>Framework web</a:t>
            </a:r>
          </a:p>
        </p:txBody>
      </p:sp>
      <p:sp>
        <p:nvSpPr>
          <p:cNvPr id="15" name="CuadroTexto 14">
            <a:extLst>
              <a:ext uri="{FF2B5EF4-FFF2-40B4-BE49-F238E27FC236}">
                <a16:creationId xmlns:a16="http://schemas.microsoft.com/office/drawing/2014/main" id="{C988ACC9-990A-B5E2-D608-D7CEFE340BAC}"/>
              </a:ext>
            </a:extLst>
          </p:cNvPr>
          <p:cNvSpPr txBox="1"/>
          <p:nvPr/>
        </p:nvSpPr>
        <p:spPr>
          <a:xfrm>
            <a:off x="2837226" y="4572000"/>
            <a:ext cx="2274270" cy="646331"/>
          </a:xfrm>
          <a:prstGeom prst="rect">
            <a:avLst/>
          </a:prstGeom>
          <a:noFill/>
        </p:spPr>
        <p:txBody>
          <a:bodyPr wrap="square" rtlCol="0">
            <a:spAutoFit/>
          </a:bodyPr>
          <a:lstStyle/>
          <a:p>
            <a:pPr algn="ctr"/>
            <a:r>
              <a:rPr lang="es-ES" u="sng" dirty="0"/>
              <a:t>Bootstrap</a:t>
            </a:r>
          </a:p>
          <a:p>
            <a:pPr algn="ctr"/>
            <a:r>
              <a:rPr lang="es-ES" dirty="0"/>
              <a:t>HMTL | CSS | JS</a:t>
            </a:r>
          </a:p>
        </p:txBody>
      </p:sp>
      <p:sp>
        <p:nvSpPr>
          <p:cNvPr id="16" name="CuadroTexto 15">
            <a:extLst>
              <a:ext uri="{FF2B5EF4-FFF2-40B4-BE49-F238E27FC236}">
                <a16:creationId xmlns:a16="http://schemas.microsoft.com/office/drawing/2014/main" id="{35BE79C1-226D-010E-E790-02226AC53E04}"/>
              </a:ext>
            </a:extLst>
          </p:cNvPr>
          <p:cNvSpPr txBox="1"/>
          <p:nvPr/>
        </p:nvSpPr>
        <p:spPr>
          <a:xfrm>
            <a:off x="7626096" y="1719072"/>
            <a:ext cx="2274270" cy="646331"/>
          </a:xfrm>
          <a:prstGeom prst="rect">
            <a:avLst/>
          </a:prstGeom>
          <a:noFill/>
        </p:spPr>
        <p:txBody>
          <a:bodyPr wrap="square" rtlCol="0">
            <a:spAutoFit/>
          </a:bodyPr>
          <a:lstStyle/>
          <a:p>
            <a:pPr algn="ctr"/>
            <a:r>
              <a:rPr lang="es-ES" u="sng" dirty="0"/>
              <a:t>PostgreSQL</a:t>
            </a:r>
          </a:p>
          <a:p>
            <a:pPr algn="ctr"/>
            <a:r>
              <a:rPr lang="es-ES" dirty="0"/>
              <a:t>Motor de BD</a:t>
            </a:r>
          </a:p>
        </p:txBody>
      </p:sp>
      <p:sp>
        <p:nvSpPr>
          <p:cNvPr id="17" name="CuadroTexto 16">
            <a:extLst>
              <a:ext uri="{FF2B5EF4-FFF2-40B4-BE49-F238E27FC236}">
                <a16:creationId xmlns:a16="http://schemas.microsoft.com/office/drawing/2014/main" id="{C897A921-0908-B6E4-14B8-C24D299F1204}"/>
              </a:ext>
            </a:extLst>
          </p:cNvPr>
          <p:cNvSpPr txBox="1"/>
          <p:nvPr/>
        </p:nvSpPr>
        <p:spPr>
          <a:xfrm>
            <a:off x="7626096" y="3166023"/>
            <a:ext cx="2274270" cy="646331"/>
          </a:xfrm>
          <a:prstGeom prst="rect">
            <a:avLst/>
          </a:prstGeom>
          <a:noFill/>
        </p:spPr>
        <p:txBody>
          <a:bodyPr wrap="square" rtlCol="0">
            <a:spAutoFit/>
          </a:bodyPr>
          <a:lstStyle/>
          <a:p>
            <a:pPr algn="ctr"/>
            <a:r>
              <a:rPr lang="es-ES" u="sng" dirty="0"/>
              <a:t>X.059</a:t>
            </a:r>
          </a:p>
          <a:p>
            <a:pPr algn="ctr"/>
            <a:r>
              <a:rPr lang="es-ES" dirty="0"/>
              <a:t>Firma y Validación</a:t>
            </a:r>
          </a:p>
        </p:txBody>
      </p:sp>
    </p:spTree>
    <p:extLst>
      <p:ext uri="{BB962C8B-B14F-4D97-AF65-F5344CB8AC3E}">
        <p14:creationId xmlns:p14="http://schemas.microsoft.com/office/powerpoint/2010/main" val="46048327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86A0-935D-00F7-871A-F59A9A0985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114534-3DF0-38C0-C265-42555F2E6F79}"/>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RESULTADOS OBTENIDOS</a:t>
            </a:r>
          </a:p>
        </p:txBody>
      </p:sp>
      <p:sp>
        <p:nvSpPr>
          <p:cNvPr id="3" name="Subtítulo 2">
            <a:extLst>
              <a:ext uri="{FF2B5EF4-FFF2-40B4-BE49-F238E27FC236}">
                <a16:creationId xmlns:a16="http://schemas.microsoft.com/office/drawing/2014/main" id="{8928A8A2-C319-52FF-8A26-0D73C41C4EA3}"/>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F8CE5244-8ECC-7F62-787F-39C14CCB70A8}"/>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10</a:t>
            </a:fld>
            <a:endParaRPr lang="es-ES" dirty="0"/>
          </a:p>
        </p:txBody>
      </p:sp>
      <p:cxnSp>
        <p:nvCxnSpPr>
          <p:cNvPr id="6" name="Conector recto 5">
            <a:extLst>
              <a:ext uri="{FF2B5EF4-FFF2-40B4-BE49-F238E27FC236}">
                <a16:creationId xmlns:a16="http://schemas.microsoft.com/office/drawing/2014/main" id="{D5A69C07-E5DC-D0EC-67F1-5E26484CC348}"/>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2C8CCB4F-A945-5DFC-D3A2-21AE3FC11C70}"/>
              </a:ext>
            </a:extLst>
          </p:cNvPr>
          <p:cNvPicPr>
            <a:picLocks noChangeAspect="1"/>
          </p:cNvPicPr>
          <p:nvPr/>
        </p:nvPicPr>
        <p:blipFill>
          <a:blip r:embed="rId2"/>
          <a:stretch>
            <a:fillRect/>
          </a:stretch>
        </p:blipFill>
        <p:spPr>
          <a:xfrm>
            <a:off x="1094540" y="1847264"/>
            <a:ext cx="5001460" cy="3776527"/>
          </a:xfrm>
          <a:prstGeom prst="rect">
            <a:avLst/>
          </a:prstGeom>
        </p:spPr>
      </p:pic>
      <p:sp>
        <p:nvSpPr>
          <p:cNvPr id="5" name="CuadroTexto 4">
            <a:extLst>
              <a:ext uri="{FF2B5EF4-FFF2-40B4-BE49-F238E27FC236}">
                <a16:creationId xmlns:a16="http://schemas.microsoft.com/office/drawing/2014/main" id="{A4896098-DCDC-C51D-382D-5B3B7C272BCB}"/>
              </a:ext>
            </a:extLst>
          </p:cNvPr>
          <p:cNvSpPr txBox="1"/>
          <p:nvPr/>
        </p:nvSpPr>
        <p:spPr>
          <a:xfrm>
            <a:off x="4370832" y="1315829"/>
            <a:ext cx="7708392" cy="369332"/>
          </a:xfrm>
          <a:prstGeom prst="rect">
            <a:avLst/>
          </a:prstGeom>
          <a:noFill/>
        </p:spPr>
        <p:txBody>
          <a:bodyPr wrap="square" rtlCol="0">
            <a:spAutoFit/>
          </a:bodyPr>
          <a:lstStyle/>
          <a:p>
            <a:r>
              <a:rPr lang="es-ES" b="1" u="sng" dirty="0"/>
              <a:t>GESTIÓN ELECTORAL COMPLETA</a:t>
            </a:r>
          </a:p>
        </p:txBody>
      </p:sp>
      <p:sp>
        <p:nvSpPr>
          <p:cNvPr id="8" name="CuadroTexto 7">
            <a:extLst>
              <a:ext uri="{FF2B5EF4-FFF2-40B4-BE49-F238E27FC236}">
                <a16:creationId xmlns:a16="http://schemas.microsoft.com/office/drawing/2014/main" id="{9A6B987D-24F5-6E84-ACD9-4FEEF5E3DD34}"/>
              </a:ext>
            </a:extLst>
          </p:cNvPr>
          <p:cNvSpPr txBox="1"/>
          <p:nvPr/>
        </p:nvSpPr>
        <p:spPr>
          <a:xfrm>
            <a:off x="6647688" y="2679748"/>
            <a:ext cx="5001460" cy="2031325"/>
          </a:xfrm>
          <a:prstGeom prst="rect">
            <a:avLst/>
          </a:prstGeom>
          <a:noFill/>
        </p:spPr>
        <p:txBody>
          <a:bodyPr wrap="square" rtlCol="0">
            <a:spAutoFit/>
          </a:bodyPr>
          <a:lstStyle/>
          <a:p>
            <a:pPr marL="285750" indent="-285750">
              <a:buFont typeface="Arial" panose="020B0604020202020204" pitchFamily="34" charset="0"/>
              <a:buChar char="•"/>
            </a:pPr>
            <a:r>
              <a:rPr lang="es-ES" dirty="0"/>
              <a:t>Administración de censos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Configuración de votaciones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Gestión de incidencias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Supervisión del proceso</a:t>
            </a:r>
          </a:p>
        </p:txBody>
      </p:sp>
    </p:spTree>
    <p:extLst>
      <p:ext uri="{BB962C8B-B14F-4D97-AF65-F5344CB8AC3E}">
        <p14:creationId xmlns:p14="http://schemas.microsoft.com/office/powerpoint/2010/main" val="2624962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A57B-9976-0CD5-E4BC-A91EB082CF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8F7A7C-7D9D-648E-3AD3-0327C3C13040}"/>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RESULTADOS OBTENIDOS</a:t>
            </a:r>
          </a:p>
        </p:txBody>
      </p:sp>
      <p:sp>
        <p:nvSpPr>
          <p:cNvPr id="3" name="Subtítulo 2">
            <a:extLst>
              <a:ext uri="{FF2B5EF4-FFF2-40B4-BE49-F238E27FC236}">
                <a16:creationId xmlns:a16="http://schemas.microsoft.com/office/drawing/2014/main" id="{7FC253B7-A570-136C-0934-1D4FBEE15448}"/>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1FCAECFE-CB12-3728-2D15-EE1D2C418862}"/>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11</a:t>
            </a:fld>
            <a:endParaRPr lang="es-ES" dirty="0"/>
          </a:p>
        </p:txBody>
      </p:sp>
      <p:cxnSp>
        <p:nvCxnSpPr>
          <p:cNvPr id="6" name="Conector recto 5">
            <a:extLst>
              <a:ext uri="{FF2B5EF4-FFF2-40B4-BE49-F238E27FC236}">
                <a16:creationId xmlns:a16="http://schemas.microsoft.com/office/drawing/2014/main" id="{3D1A3339-8558-E5CD-7798-2150B71AF339}"/>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3387F61D-3390-09A4-D6E6-F454377C6186}"/>
              </a:ext>
            </a:extLst>
          </p:cNvPr>
          <p:cNvSpPr txBox="1"/>
          <p:nvPr/>
        </p:nvSpPr>
        <p:spPr>
          <a:xfrm>
            <a:off x="4233672" y="1184679"/>
            <a:ext cx="7708392" cy="369332"/>
          </a:xfrm>
          <a:prstGeom prst="rect">
            <a:avLst/>
          </a:prstGeom>
          <a:noFill/>
        </p:spPr>
        <p:txBody>
          <a:bodyPr wrap="square" rtlCol="0">
            <a:spAutoFit/>
          </a:bodyPr>
          <a:lstStyle/>
          <a:p>
            <a:r>
              <a:rPr lang="es-ES" b="1" u="sng" dirty="0"/>
              <a:t>CONFIGURACIÓN DE LA VOTACIÓN</a:t>
            </a:r>
          </a:p>
        </p:txBody>
      </p:sp>
      <p:pic>
        <p:nvPicPr>
          <p:cNvPr id="8" name="Imagen 7">
            <a:extLst>
              <a:ext uri="{FF2B5EF4-FFF2-40B4-BE49-F238E27FC236}">
                <a16:creationId xmlns:a16="http://schemas.microsoft.com/office/drawing/2014/main" id="{7A09DBED-27F6-41F4-F011-74663529C6E2}"/>
              </a:ext>
            </a:extLst>
          </p:cNvPr>
          <p:cNvPicPr>
            <a:picLocks noChangeAspect="1"/>
          </p:cNvPicPr>
          <p:nvPr/>
        </p:nvPicPr>
        <p:blipFill>
          <a:blip r:embed="rId3"/>
          <a:stretch>
            <a:fillRect/>
          </a:stretch>
        </p:blipFill>
        <p:spPr>
          <a:xfrm>
            <a:off x="329534" y="1685161"/>
            <a:ext cx="4370482" cy="3293483"/>
          </a:xfrm>
          <a:prstGeom prst="rect">
            <a:avLst/>
          </a:prstGeom>
        </p:spPr>
      </p:pic>
      <p:pic>
        <p:nvPicPr>
          <p:cNvPr id="10" name="Imagen 9">
            <a:extLst>
              <a:ext uri="{FF2B5EF4-FFF2-40B4-BE49-F238E27FC236}">
                <a16:creationId xmlns:a16="http://schemas.microsoft.com/office/drawing/2014/main" id="{944DC394-B4DF-AFEF-223D-FB8D4A26C38F}"/>
              </a:ext>
            </a:extLst>
          </p:cNvPr>
          <p:cNvPicPr>
            <a:picLocks noChangeAspect="1"/>
          </p:cNvPicPr>
          <p:nvPr/>
        </p:nvPicPr>
        <p:blipFill>
          <a:blip r:embed="rId4"/>
          <a:stretch>
            <a:fillRect/>
          </a:stretch>
        </p:blipFill>
        <p:spPr>
          <a:xfrm>
            <a:off x="7843081" y="1308823"/>
            <a:ext cx="3922671" cy="2648200"/>
          </a:xfrm>
          <a:prstGeom prst="rect">
            <a:avLst/>
          </a:prstGeom>
        </p:spPr>
      </p:pic>
      <p:pic>
        <p:nvPicPr>
          <p:cNvPr id="12" name="Imagen 11">
            <a:extLst>
              <a:ext uri="{FF2B5EF4-FFF2-40B4-BE49-F238E27FC236}">
                <a16:creationId xmlns:a16="http://schemas.microsoft.com/office/drawing/2014/main" id="{3C2D88BA-DE13-2EFA-D2AA-4C2562DD9260}"/>
              </a:ext>
            </a:extLst>
          </p:cNvPr>
          <p:cNvPicPr>
            <a:picLocks noChangeAspect="1"/>
          </p:cNvPicPr>
          <p:nvPr/>
        </p:nvPicPr>
        <p:blipFill>
          <a:blip r:embed="rId5"/>
          <a:stretch>
            <a:fillRect/>
          </a:stretch>
        </p:blipFill>
        <p:spPr>
          <a:xfrm>
            <a:off x="9729151" y="3914967"/>
            <a:ext cx="2036601" cy="2310233"/>
          </a:xfrm>
          <a:prstGeom prst="rect">
            <a:avLst/>
          </a:prstGeom>
        </p:spPr>
      </p:pic>
      <p:sp>
        <p:nvSpPr>
          <p:cNvPr id="14" name="CuadroTexto 13">
            <a:extLst>
              <a:ext uri="{FF2B5EF4-FFF2-40B4-BE49-F238E27FC236}">
                <a16:creationId xmlns:a16="http://schemas.microsoft.com/office/drawing/2014/main" id="{17E5B7D4-0F14-40C5-59E5-04352784E88B}"/>
              </a:ext>
            </a:extLst>
          </p:cNvPr>
          <p:cNvSpPr txBox="1"/>
          <p:nvPr/>
        </p:nvSpPr>
        <p:spPr>
          <a:xfrm>
            <a:off x="5383365" y="4403327"/>
            <a:ext cx="4745736" cy="1384995"/>
          </a:xfrm>
          <a:prstGeom prst="rect">
            <a:avLst/>
          </a:prstGeom>
          <a:noFill/>
        </p:spPr>
        <p:txBody>
          <a:bodyPr wrap="square" rtlCol="0">
            <a:spAutoFit/>
          </a:bodyPr>
          <a:lstStyle/>
          <a:p>
            <a:pPr marL="285750" indent="-285750">
              <a:buFont typeface="Arial" panose="020B0604020202020204" pitchFamily="34" charset="0"/>
              <a:buChar char="•"/>
            </a:pPr>
            <a:r>
              <a:rPr lang="es-ES" sz="1400" dirty="0">
                <a:latin typeface="Aptos" panose="020B0004020202020204" pitchFamily="34" charset="0"/>
              </a:rPr>
              <a:t>Configuración del calendario electoral</a:t>
            </a:r>
          </a:p>
          <a:p>
            <a:pPr marL="285750" indent="-285750">
              <a:buFont typeface="Arial" panose="020B0604020202020204" pitchFamily="34" charset="0"/>
              <a:buChar char="•"/>
            </a:pPr>
            <a:r>
              <a:rPr lang="es-ES" sz="1400" dirty="0">
                <a:latin typeface="Aptos" panose="020B0004020202020204" pitchFamily="34" charset="0"/>
              </a:rPr>
              <a:t>Asociación de censos y participantes</a:t>
            </a:r>
          </a:p>
          <a:p>
            <a:pPr marL="285750" indent="-285750">
              <a:buFont typeface="Arial" panose="020B0604020202020204" pitchFamily="34" charset="0"/>
              <a:buChar char="•"/>
            </a:pPr>
            <a:r>
              <a:rPr lang="es-ES" sz="1400" dirty="0">
                <a:latin typeface="Aptos" panose="020B0004020202020204" pitchFamily="34" charset="0"/>
              </a:rPr>
              <a:t>Creación y gestión de candidaturas</a:t>
            </a:r>
          </a:p>
          <a:p>
            <a:pPr marL="285750" indent="-285750">
              <a:buFont typeface="Arial" panose="020B0604020202020204" pitchFamily="34" charset="0"/>
              <a:buChar char="•"/>
            </a:pPr>
            <a:r>
              <a:rPr lang="es-ES" sz="1400" dirty="0">
                <a:latin typeface="Aptos" panose="020B0004020202020204" pitchFamily="34" charset="0"/>
              </a:rPr>
              <a:t>Asignación del director de campaña</a:t>
            </a:r>
          </a:p>
          <a:p>
            <a:pPr marL="285750" indent="-285750">
              <a:buFont typeface="Arial" panose="020B0604020202020204" pitchFamily="34" charset="0"/>
              <a:buChar char="•"/>
            </a:pPr>
            <a:r>
              <a:rPr lang="es-ES" sz="1400" dirty="0">
                <a:latin typeface="Aptos" panose="020B0004020202020204" pitchFamily="34" charset="0"/>
              </a:rPr>
              <a:t>Activación y control de la votación</a:t>
            </a:r>
          </a:p>
          <a:p>
            <a:pPr marL="285750" indent="-285750">
              <a:buFont typeface="Arial" panose="020B0604020202020204" pitchFamily="34" charset="0"/>
              <a:buChar char="•"/>
            </a:pPr>
            <a:endParaRPr lang="es-ES" sz="1400" dirty="0">
              <a:latin typeface="Aptos" panose="020B0004020202020204" pitchFamily="34" charset="0"/>
            </a:endParaRPr>
          </a:p>
        </p:txBody>
      </p:sp>
    </p:spTree>
    <p:extLst>
      <p:ext uri="{BB962C8B-B14F-4D97-AF65-F5344CB8AC3E}">
        <p14:creationId xmlns:p14="http://schemas.microsoft.com/office/powerpoint/2010/main" val="1013677796"/>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AA4EC-5B7A-B93F-4ADF-F34E48C58F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D03EB7-BEDB-8C36-0116-1DA233FAB1E9}"/>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RESULTADOS OBTENIDOS</a:t>
            </a:r>
          </a:p>
        </p:txBody>
      </p:sp>
      <p:sp>
        <p:nvSpPr>
          <p:cNvPr id="3" name="Subtítulo 2">
            <a:extLst>
              <a:ext uri="{FF2B5EF4-FFF2-40B4-BE49-F238E27FC236}">
                <a16:creationId xmlns:a16="http://schemas.microsoft.com/office/drawing/2014/main" id="{E71D93C8-D036-A4DE-BF7E-3D8C0CABB1D9}"/>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A69FC579-8A69-EC3E-02BE-E1F1F16E4E88}"/>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12</a:t>
            </a:fld>
            <a:endParaRPr lang="es-ES" dirty="0"/>
          </a:p>
        </p:txBody>
      </p:sp>
      <p:cxnSp>
        <p:nvCxnSpPr>
          <p:cNvPr id="6" name="Conector recto 5">
            <a:extLst>
              <a:ext uri="{FF2B5EF4-FFF2-40B4-BE49-F238E27FC236}">
                <a16:creationId xmlns:a16="http://schemas.microsoft.com/office/drawing/2014/main" id="{3D25F27E-E40B-996D-CA76-CE3987D3E824}"/>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C408A967-FC76-F135-AEAD-630AF635A3D2}"/>
              </a:ext>
            </a:extLst>
          </p:cNvPr>
          <p:cNvPicPr>
            <a:picLocks noChangeAspect="1"/>
          </p:cNvPicPr>
          <p:nvPr/>
        </p:nvPicPr>
        <p:blipFill>
          <a:blip r:embed="rId3"/>
          <a:stretch>
            <a:fillRect/>
          </a:stretch>
        </p:blipFill>
        <p:spPr>
          <a:xfrm>
            <a:off x="610683" y="1533108"/>
            <a:ext cx="2891470" cy="2591001"/>
          </a:xfrm>
          <a:prstGeom prst="rect">
            <a:avLst/>
          </a:prstGeom>
        </p:spPr>
      </p:pic>
      <p:sp>
        <p:nvSpPr>
          <p:cNvPr id="10" name="CuadroTexto 9">
            <a:extLst>
              <a:ext uri="{FF2B5EF4-FFF2-40B4-BE49-F238E27FC236}">
                <a16:creationId xmlns:a16="http://schemas.microsoft.com/office/drawing/2014/main" id="{3DCD5232-DA81-BF2D-B6C2-A558B81A6A5D}"/>
              </a:ext>
            </a:extLst>
          </p:cNvPr>
          <p:cNvSpPr txBox="1"/>
          <p:nvPr/>
        </p:nvSpPr>
        <p:spPr>
          <a:xfrm>
            <a:off x="3794760" y="1163776"/>
            <a:ext cx="7708392" cy="369332"/>
          </a:xfrm>
          <a:prstGeom prst="rect">
            <a:avLst/>
          </a:prstGeom>
          <a:noFill/>
        </p:spPr>
        <p:txBody>
          <a:bodyPr wrap="square" rtlCol="0">
            <a:spAutoFit/>
          </a:bodyPr>
          <a:lstStyle/>
          <a:p>
            <a:r>
              <a:rPr lang="es-ES" b="1" u="sng" dirty="0"/>
              <a:t>CONTROL DE ACCESO BASADO EN ROLES</a:t>
            </a:r>
          </a:p>
        </p:txBody>
      </p:sp>
      <p:pic>
        <p:nvPicPr>
          <p:cNvPr id="12" name="Imagen 11">
            <a:extLst>
              <a:ext uri="{FF2B5EF4-FFF2-40B4-BE49-F238E27FC236}">
                <a16:creationId xmlns:a16="http://schemas.microsoft.com/office/drawing/2014/main" id="{3F07DCCB-358C-8DE3-F1C8-F8995960B550}"/>
              </a:ext>
            </a:extLst>
          </p:cNvPr>
          <p:cNvPicPr>
            <a:picLocks noChangeAspect="1"/>
          </p:cNvPicPr>
          <p:nvPr/>
        </p:nvPicPr>
        <p:blipFill>
          <a:blip r:embed="rId4"/>
          <a:stretch>
            <a:fillRect/>
          </a:stretch>
        </p:blipFill>
        <p:spPr>
          <a:xfrm>
            <a:off x="3532204" y="4013665"/>
            <a:ext cx="4086701" cy="2278032"/>
          </a:xfrm>
          <a:prstGeom prst="rect">
            <a:avLst/>
          </a:prstGeom>
        </p:spPr>
      </p:pic>
      <p:pic>
        <p:nvPicPr>
          <p:cNvPr id="14" name="Imagen 13">
            <a:extLst>
              <a:ext uri="{FF2B5EF4-FFF2-40B4-BE49-F238E27FC236}">
                <a16:creationId xmlns:a16="http://schemas.microsoft.com/office/drawing/2014/main" id="{04A2DDEC-B0A0-102D-1E3B-38A7343F8F9E}"/>
              </a:ext>
            </a:extLst>
          </p:cNvPr>
          <p:cNvPicPr>
            <a:picLocks noChangeAspect="1"/>
          </p:cNvPicPr>
          <p:nvPr/>
        </p:nvPicPr>
        <p:blipFill>
          <a:blip r:embed="rId5"/>
          <a:stretch>
            <a:fillRect/>
          </a:stretch>
        </p:blipFill>
        <p:spPr>
          <a:xfrm>
            <a:off x="7648956" y="1533108"/>
            <a:ext cx="4248956" cy="2591002"/>
          </a:xfrm>
          <a:prstGeom prst="rect">
            <a:avLst/>
          </a:prstGeom>
        </p:spPr>
      </p:pic>
      <p:sp>
        <p:nvSpPr>
          <p:cNvPr id="15" name="CuadroTexto 14">
            <a:extLst>
              <a:ext uri="{FF2B5EF4-FFF2-40B4-BE49-F238E27FC236}">
                <a16:creationId xmlns:a16="http://schemas.microsoft.com/office/drawing/2014/main" id="{2A94456A-47CF-E4DE-7D09-FC514097382F}"/>
              </a:ext>
            </a:extLst>
          </p:cNvPr>
          <p:cNvSpPr txBox="1"/>
          <p:nvPr/>
        </p:nvSpPr>
        <p:spPr>
          <a:xfrm>
            <a:off x="3678508" y="2299126"/>
            <a:ext cx="4086701" cy="1323439"/>
          </a:xfrm>
          <a:prstGeom prst="rect">
            <a:avLst/>
          </a:prstGeom>
          <a:noFill/>
        </p:spPr>
        <p:txBody>
          <a:bodyPr wrap="square" rtlCol="0">
            <a:spAutoFit/>
          </a:bodyPr>
          <a:lstStyle/>
          <a:p>
            <a:pPr marL="285750" indent="-285750">
              <a:buFont typeface="Arial" panose="020B0604020202020204" pitchFamily="34" charset="0"/>
              <a:buChar char="•"/>
            </a:pPr>
            <a:r>
              <a:rPr lang="es-ES" sz="1600" dirty="0"/>
              <a:t>Interfaces específicas por rol</a:t>
            </a:r>
          </a:p>
          <a:p>
            <a:pPr marL="285750" indent="-285750">
              <a:buFont typeface="Arial" panose="020B0604020202020204" pitchFamily="34" charset="0"/>
              <a:buChar char="•"/>
            </a:pPr>
            <a:r>
              <a:rPr lang="es-ES" sz="1600" dirty="0"/>
              <a:t>Separación de responsabilidades</a:t>
            </a:r>
          </a:p>
          <a:p>
            <a:pPr marL="285750" indent="-285750">
              <a:buFont typeface="Arial" panose="020B0604020202020204" pitchFamily="34" charset="0"/>
              <a:buChar char="•"/>
            </a:pPr>
            <a:r>
              <a:rPr lang="es-ES" sz="1600" dirty="0"/>
              <a:t>Control de permisos</a:t>
            </a:r>
          </a:p>
          <a:p>
            <a:pPr marL="285750" indent="-285750">
              <a:buFont typeface="Arial" panose="020B0604020202020204" pitchFamily="34" charset="0"/>
              <a:buChar char="•"/>
            </a:pPr>
            <a:r>
              <a:rPr lang="es-ES" sz="1600" dirty="0"/>
              <a:t>Acceso restringido a funciones autorizadas</a:t>
            </a:r>
          </a:p>
          <a:p>
            <a:pPr marL="285750" indent="-285750">
              <a:buFont typeface="Arial" panose="020B0604020202020204" pitchFamily="34" charset="0"/>
              <a:buChar char="•"/>
            </a:pPr>
            <a:endParaRPr lang="es-ES" sz="1600" dirty="0"/>
          </a:p>
        </p:txBody>
      </p:sp>
    </p:spTree>
    <p:extLst>
      <p:ext uri="{BB962C8B-B14F-4D97-AF65-F5344CB8AC3E}">
        <p14:creationId xmlns:p14="http://schemas.microsoft.com/office/powerpoint/2010/main" val="3687730176"/>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8DAE-B2B4-99D4-F539-3CEBCDEE7B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B6C88A-CDC0-40AA-EB99-E0DD19A8AAC3}"/>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RESULTADOS OBTENIDOS</a:t>
            </a:r>
          </a:p>
        </p:txBody>
      </p:sp>
      <p:sp>
        <p:nvSpPr>
          <p:cNvPr id="3" name="Subtítulo 2">
            <a:extLst>
              <a:ext uri="{FF2B5EF4-FFF2-40B4-BE49-F238E27FC236}">
                <a16:creationId xmlns:a16="http://schemas.microsoft.com/office/drawing/2014/main" id="{63AA4CDE-CD6F-0255-41FB-32C2D22958DA}"/>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85ED76F5-1924-5DDC-DCD3-7154CA0F8042}"/>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13</a:t>
            </a:fld>
            <a:endParaRPr lang="es-ES" dirty="0"/>
          </a:p>
        </p:txBody>
      </p:sp>
      <p:cxnSp>
        <p:nvCxnSpPr>
          <p:cNvPr id="6" name="Conector recto 5">
            <a:extLst>
              <a:ext uri="{FF2B5EF4-FFF2-40B4-BE49-F238E27FC236}">
                <a16:creationId xmlns:a16="http://schemas.microsoft.com/office/drawing/2014/main" id="{16DD4947-AA00-C944-7F34-00B67700CDF1}"/>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EDEA73A0-6C1E-76AC-8C3B-5A9EC6D93884}"/>
              </a:ext>
            </a:extLst>
          </p:cNvPr>
          <p:cNvSpPr txBox="1"/>
          <p:nvPr/>
        </p:nvSpPr>
        <p:spPr>
          <a:xfrm>
            <a:off x="3712464" y="1296319"/>
            <a:ext cx="7708392" cy="369332"/>
          </a:xfrm>
          <a:prstGeom prst="rect">
            <a:avLst/>
          </a:prstGeom>
          <a:noFill/>
        </p:spPr>
        <p:txBody>
          <a:bodyPr wrap="square" rtlCol="0">
            <a:spAutoFit/>
          </a:bodyPr>
          <a:lstStyle/>
          <a:p>
            <a:r>
              <a:rPr lang="es-ES" b="1" u="sng" dirty="0"/>
              <a:t>PROCESO DE VOTACIÓN CERTIFICADO</a:t>
            </a:r>
          </a:p>
        </p:txBody>
      </p:sp>
      <p:pic>
        <p:nvPicPr>
          <p:cNvPr id="8" name="Imagen 7">
            <a:extLst>
              <a:ext uri="{FF2B5EF4-FFF2-40B4-BE49-F238E27FC236}">
                <a16:creationId xmlns:a16="http://schemas.microsoft.com/office/drawing/2014/main" id="{8C6EB7B6-EF7B-9F01-8876-C4868E874E58}"/>
              </a:ext>
            </a:extLst>
          </p:cNvPr>
          <p:cNvPicPr>
            <a:picLocks noChangeAspect="1"/>
          </p:cNvPicPr>
          <p:nvPr/>
        </p:nvPicPr>
        <p:blipFill>
          <a:blip r:embed="rId3"/>
          <a:stretch>
            <a:fillRect/>
          </a:stretch>
        </p:blipFill>
        <p:spPr>
          <a:xfrm>
            <a:off x="465940" y="1680983"/>
            <a:ext cx="4791274" cy="1828143"/>
          </a:xfrm>
          <a:prstGeom prst="rect">
            <a:avLst/>
          </a:prstGeom>
        </p:spPr>
      </p:pic>
      <p:pic>
        <p:nvPicPr>
          <p:cNvPr id="10" name="Imagen 9">
            <a:extLst>
              <a:ext uri="{FF2B5EF4-FFF2-40B4-BE49-F238E27FC236}">
                <a16:creationId xmlns:a16="http://schemas.microsoft.com/office/drawing/2014/main" id="{BD8CBC2F-771D-9A14-E47F-458BEB6567C3}"/>
              </a:ext>
            </a:extLst>
          </p:cNvPr>
          <p:cNvPicPr>
            <a:picLocks noChangeAspect="1"/>
          </p:cNvPicPr>
          <p:nvPr/>
        </p:nvPicPr>
        <p:blipFill>
          <a:blip r:embed="rId4"/>
          <a:stretch>
            <a:fillRect/>
          </a:stretch>
        </p:blipFill>
        <p:spPr>
          <a:xfrm>
            <a:off x="6934788" y="1737352"/>
            <a:ext cx="4791272" cy="2022711"/>
          </a:xfrm>
          <a:prstGeom prst="rect">
            <a:avLst/>
          </a:prstGeom>
        </p:spPr>
      </p:pic>
      <p:pic>
        <p:nvPicPr>
          <p:cNvPr id="12" name="Imagen 11">
            <a:extLst>
              <a:ext uri="{FF2B5EF4-FFF2-40B4-BE49-F238E27FC236}">
                <a16:creationId xmlns:a16="http://schemas.microsoft.com/office/drawing/2014/main" id="{0ED724EC-C954-26BF-9BF9-A28892E77637}"/>
              </a:ext>
            </a:extLst>
          </p:cNvPr>
          <p:cNvPicPr>
            <a:picLocks noChangeAspect="1"/>
          </p:cNvPicPr>
          <p:nvPr/>
        </p:nvPicPr>
        <p:blipFill>
          <a:blip r:embed="rId5"/>
          <a:stretch>
            <a:fillRect/>
          </a:stretch>
        </p:blipFill>
        <p:spPr>
          <a:xfrm>
            <a:off x="1178789" y="3695411"/>
            <a:ext cx="3809540" cy="2265132"/>
          </a:xfrm>
          <a:prstGeom prst="rect">
            <a:avLst/>
          </a:prstGeom>
        </p:spPr>
      </p:pic>
      <p:sp>
        <p:nvSpPr>
          <p:cNvPr id="13" name="CuadroTexto 12">
            <a:extLst>
              <a:ext uri="{FF2B5EF4-FFF2-40B4-BE49-F238E27FC236}">
                <a16:creationId xmlns:a16="http://schemas.microsoft.com/office/drawing/2014/main" id="{2D6CB3A4-C5B7-4498-5957-13643EBFDCAC}"/>
              </a:ext>
            </a:extLst>
          </p:cNvPr>
          <p:cNvSpPr txBox="1"/>
          <p:nvPr/>
        </p:nvSpPr>
        <p:spPr>
          <a:xfrm>
            <a:off x="5861304" y="4143543"/>
            <a:ext cx="4636008" cy="954107"/>
          </a:xfrm>
          <a:prstGeom prst="rect">
            <a:avLst/>
          </a:prstGeom>
          <a:noFill/>
        </p:spPr>
        <p:txBody>
          <a:bodyPr wrap="square" rtlCol="0">
            <a:spAutoFit/>
          </a:bodyPr>
          <a:lstStyle/>
          <a:p>
            <a:pPr marL="285750" indent="-285750">
              <a:buFont typeface="Arial" panose="020B0604020202020204" pitchFamily="34" charset="0"/>
              <a:buChar char="•"/>
            </a:pPr>
            <a:r>
              <a:rPr lang="es-ES" sz="1400" dirty="0">
                <a:latin typeface="Aptos" panose="020B0004020202020204" pitchFamily="34" charset="0"/>
              </a:rPr>
              <a:t>Configuración de su certificado</a:t>
            </a:r>
          </a:p>
          <a:p>
            <a:pPr marL="285750" indent="-285750">
              <a:buFont typeface="Arial" panose="020B0604020202020204" pitchFamily="34" charset="0"/>
              <a:buChar char="•"/>
            </a:pPr>
            <a:r>
              <a:rPr lang="es-ES" sz="1400" dirty="0">
                <a:latin typeface="Aptos" panose="020B0004020202020204" pitchFamily="34" charset="0"/>
              </a:rPr>
              <a:t>Selección de la votación</a:t>
            </a:r>
          </a:p>
          <a:p>
            <a:pPr marL="285750" indent="-285750">
              <a:buFont typeface="Arial" panose="020B0604020202020204" pitchFamily="34" charset="0"/>
              <a:buChar char="•"/>
            </a:pPr>
            <a:r>
              <a:rPr lang="es-ES" sz="1400" dirty="0">
                <a:latin typeface="Aptos" panose="020B0004020202020204" pitchFamily="34" charset="0"/>
              </a:rPr>
              <a:t>Selección de candidatura</a:t>
            </a:r>
          </a:p>
          <a:p>
            <a:pPr marL="285750" indent="-285750">
              <a:buFont typeface="Arial" panose="020B0604020202020204" pitchFamily="34" charset="0"/>
              <a:buChar char="•"/>
            </a:pPr>
            <a:r>
              <a:rPr lang="es-ES" sz="1400" dirty="0">
                <a:latin typeface="Aptos" panose="020B0004020202020204" pitchFamily="34" charset="0"/>
              </a:rPr>
              <a:t>Emisión del voto</a:t>
            </a:r>
          </a:p>
        </p:txBody>
      </p:sp>
    </p:spTree>
    <p:extLst>
      <p:ext uri="{BB962C8B-B14F-4D97-AF65-F5344CB8AC3E}">
        <p14:creationId xmlns:p14="http://schemas.microsoft.com/office/powerpoint/2010/main" val="175314551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9D7B-A3BF-7B5D-61F7-2A651D80E9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E22ECD-3D1C-663C-96A0-88547DB0A2FC}"/>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RESULTADOS OBTENIDOS</a:t>
            </a:r>
          </a:p>
        </p:txBody>
      </p:sp>
      <p:sp>
        <p:nvSpPr>
          <p:cNvPr id="3" name="Subtítulo 2">
            <a:extLst>
              <a:ext uri="{FF2B5EF4-FFF2-40B4-BE49-F238E27FC236}">
                <a16:creationId xmlns:a16="http://schemas.microsoft.com/office/drawing/2014/main" id="{B45ACB47-D320-3B7A-4716-CCDC133DFA54}"/>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431C6093-B680-E4DA-F701-C3F4DE6F0E64}"/>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14</a:t>
            </a:fld>
            <a:endParaRPr lang="es-ES" dirty="0"/>
          </a:p>
        </p:txBody>
      </p:sp>
      <p:cxnSp>
        <p:nvCxnSpPr>
          <p:cNvPr id="6" name="Conector recto 5">
            <a:extLst>
              <a:ext uri="{FF2B5EF4-FFF2-40B4-BE49-F238E27FC236}">
                <a16:creationId xmlns:a16="http://schemas.microsoft.com/office/drawing/2014/main" id="{B6C4A70F-B523-E45B-4452-49041183929E}"/>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E03AC3D8-4E57-FD52-61B2-5EF717ECB7CB}"/>
              </a:ext>
            </a:extLst>
          </p:cNvPr>
          <p:cNvSpPr txBox="1"/>
          <p:nvPr/>
        </p:nvSpPr>
        <p:spPr>
          <a:xfrm>
            <a:off x="3794760" y="1163776"/>
            <a:ext cx="7708392" cy="369332"/>
          </a:xfrm>
          <a:prstGeom prst="rect">
            <a:avLst/>
          </a:prstGeom>
          <a:noFill/>
        </p:spPr>
        <p:txBody>
          <a:bodyPr wrap="square" rtlCol="0">
            <a:spAutoFit/>
          </a:bodyPr>
          <a:lstStyle/>
          <a:p>
            <a:r>
              <a:rPr lang="es-ES" b="1" u="sng" dirty="0"/>
              <a:t>RECUENTO Y PUBLICACIÓN DE RESULTADOS</a:t>
            </a:r>
          </a:p>
        </p:txBody>
      </p:sp>
      <p:pic>
        <p:nvPicPr>
          <p:cNvPr id="13" name="Imagen 12">
            <a:extLst>
              <a:ext uri="{FF2B5EF4-FFF2-40B4-BE49-F238E27FC236}">
                <a16:creationId xmlns:a16="http://schemas.microsoft.com/office/drawing/2014/main" id="{872ECD64-85CE-43B7-8CA7-30BD5FA830F0}"/>
              </a:ext>
            </a:extLst>
          </p:cNvPr>
          <p:cNvPicPr>
            <a:picLocks noChangeAspect="1"/>
          </p:cNvPicPr>
          <p:nvPr/>
        </p:nvPicPr>
        <p:blipFill>
          <a:blip r:embed="rId3"/>
          <a:stretch>
            <a:fillRect/>
          </a:stretch>
        </p:blipFill>
        <p:spPr>
          <a:xfrm>
            <a:off x="498444" y="1690187"/>
            <a:ext cx="5428250" cy="4139753"/>
          </a:xfrm>
          <a:prstGeom prst="rect">
            <a:avLst/>
          </a:prstGeom>
        </p:spPr>
      </p:pic>
      <p:pic>
        <p:nvPicPr>
          <p:cNvPr id="8" name="Imagen 7">
            <a:extLst>
              <a:ext uri="{FF2B5EF4-FFF2-40B4-BE49-F238E27FC236}">
                <a16:creationId xmlns:a16="http://schemas.microsoft.com/office/drawing/2014/main" id="{A555D0C2-72D9-8DEE-A92C-EF5B37F59166}"/>
              </a:ext>
            </a:extLst>
          </p:cNvPr>
          <p:cNvPicPr>
            <a:picLocks noChangeAspect="1"/>
          </p:cNvPicPr>
          <p:nvPr/>
        </p:nvPicPr>
        <p:blipFill>
          <a:blip r:embed="rId4"/>
          <a:stretch>
            <a:fillRect/>
          </a:stretch>
        </p:blipFill>
        <p:spPr>
          <a:xfrm>
            <a:off x="7376062" y="1625534"/>
            <a:ext cx="4127090" cy="1558702"/>
          </a:xfrm>
          <a:prstGeom prst="rect">
            <a:avLst/>
          </a:prstGeom>
        </p:spPr>
      </p:pic>
      <p:pic>
        <p:nvPicPr>
          <p:cNvPr id="11" name="Imagen 10">
            <a:extLst>
              <a:ext uri="{FF2B5EF4-FFF2-40B4-BE49-F238E27FC236}">
                <a16:creationId xmlns:a16="http://schemas.microsoft.com/office/drawing/2014/main" id="{0AEA62AF-4A3E-191C-F156-C33A5792D2A6}"/>
              </a:ext>
            </a:extLst>
          </p:cNvPr>
          <p:cNvPicPr>
            <a:picLocks noChangeAspect="1"/>
          </p:cNvPicPr>
          <p:nvPr/>
        </p:nvPicPr>
        <p:blipFill>
          <a:blip r:embed="rId5"/>
          <a:stretch>
            <a:fillRect/>
          </a:stretch>
        </p:blipFill>
        <p:spPr>
          <a:xfrm>
            <a:off x="7376062" y="3429000"/>
            <a:ext cx="4127091" cy="1647050"/>
          </a:xfrm>
          <a:prstGeom prst="rect">
            <a:avLst/>
          </a:prstGeom>
        </p:spPr>
      </p:pic>
    </p:spTree>
    <p:extLst>
      <p:ext uri="{BB962C8B-B14F-4D97-AF65-F5344CB8AC3E}">
        <p14:creationId xmlns:p14="http://schemas.microsoft.com/office/powerpoint/2010/main" val="66927452"/>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0B6BF-3986-5A4B-BC48-F2B734D2FC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6F1CAB-8900-DB56-B7C8-99FAAE94F45A}"/>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LIMITACIONES Y TRABAJO FUTURO</a:t>
            </a:r>
          </a:p>
        </p:txBody>
      </p:sp>
      <p:sp>
        <p:nvSpPr>
          <p:cNvPr id="3" name="Subtítulo 2">
            <a:extLst>
              <a:ext uri="{FF2B5EF4-FFF2-40B4-BE49-F238E27FC236}">
                <a16:creationId xmlns:a16="http://schemas.microsoft.com/office/drawing/2014/main" id="{F77B317E-7C79-BF4A-8A7F-A4A2227F272B}"/>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FAC20D56-B714-1408-0079-19971BC81C9F}"/>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15</a:t>
            </a:fld>
            <a:endParaRPr lang="es-ES" dirty="0"/>
          </a:p>
        </p:txBody>
      </p:sp>
      <p:cxnSp>
        <p:nvCxnSpPr>
          <p:cNvPr id="6" name="Conector recto 5">
            <a:extLst>
              <a:ext uri="{FF2B5EF4-FFF2-40B4-BE49-F238E27FC236}">
                <a16:creationId xmlns:a16="http://schemas.microsoft.com/office/drawing/2014/main" id="{2876F934-D2C5-3557-18A3-4CAF0812319E}"/>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D5C5BF6D-C9A6-7016-0756-130818F689B5}"/>
              </a:ext>
            </a:extLst>
          </p:cNvPr>
          <p:cNvSpPr/>
          <p:nvPr/>
        </p:nvSpPr>
        <p:spPr>
          <a:xfrm>
            <a:off x="2027641" y="1649571"/>
            <a:ext cx="2091390" cy="951337"/>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u="sng" dirty="0">
                <a:solidFill>
                  <a:schemeClr val="tx1"/>
                </a:solidFill>
              </a:rPr>
              <a:t>LIMITACIONES</a:t>
            </a:r>
          </a:p>
        </p:txBody>
      </p:sp>
      <p:sp>
        <p:nvSpPr>
          <p:cNvPr id="8" name="Rectángulo: esquinas redondeadas 7">
            <a:extLst>
              <a:ext uri="{FF2B5EF4-FFF2-40B4-BE49-F238E27FC236}">
                <a16:creationId xmlns:a16="http://schemas.microsoft.com/office/drawing/2014/main" id="{5E44D04E-A215-541C-A69F-C00BD6EBBB8B}"/>
              </a:ext>
            </a:extLst>
          </p:cNvPr>
          <p:cNvSpPr/>
          <p:nvPr/>
        </p:nvSpPr>
        <p:spPr>
          <a:xfrm>
            <a:off x="701399" y="3284395"/>
            <a:ext cx="5031889" cy="2833598"/>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9A6A97D8-A3BD-2723-8A46-23394B47F6C0}"/>
              </a:ext>
            </a:extLst>
          </p:cNvPr>
          <p:cNvSpPr/>
          <p:nvPr/>
        </p:nvSpPr>
        <p:spPr>
          <a:xfrm>
            <a:off x="7712161" y="1649571"/>
            <a:ext cx="2091390" cy="951337"/>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Rectángulo: esquinas redondeadas 10">
            <a:extLst>
              <a:ext uri="{FF2B5EF4-FFF2-40B4-BE49-F238E27FC236}">
                <a16:creationId xmlns:a16="http://schemas.microsoft.com/office/drawing/2014/main" id="{A56F8DEB-FAB0-27BC-F274-8738685267C7}"/>
              </a:ext>
            </a:extLst>
          </p:cNvPr>
          <p:cNvSpPr/>
          <p:nvPr/>
        </p:nvSpPr>
        <p:spPr>
          <a:xfrm>
            <a:off x="6385919" y="3284395"/>
            <a:ext cx="5031889" cy="2833598"/>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2FF5AA91-BB64-4751-932B-F483DAC4C4DD}"/>
              </a:ext>
            </a:extLst>
          </p:cNvPr>
          <p:cNvSpPr txBox="1"/>
          <p:nvPr/>
        </p:nvSpPr>
        <p:spPr>
          <a:xfrm>
            <a:off x="7712161" y="1837944"/>
            <a:ext cx="2091390" cy="646331"/>
          </a:xfrm>
          <a:prstGeom prst="rect">
            <a:avLst/>
          </a:prstGeom>
          <a:noFill/>
        </p:spPr>
        <p:txBody>
          <a:bodyPr wrap="square" rtlCol="0">
            <a:spAutoFit/>
          </a:bodyPr>
          <a:lstStyle/>
          <a:p>
            <a:pPr algn="ctr"/>
            <a:r>
              <a:rPr lang="es-ES" u="sng" dirty="0"/>
              <a:t>LINEAS DE TRABAJO</a:t>
            </a:r>
          </a:p>
          <a:p>
            <a:pPr algn="ctr"/>
            <a:r>
              <a:rPr lang="es-ES" u="sng" dirty="0"/>
              <a:t>FUTURAS</a:t>
            </a:r>
          </a:p>
        </p:txBody>
      </p:sp>
      <p:sp>
        <p:nvSpPr>
          <p:cNvPr id="13" name="CuadroTexto 12">
            <a:extLst>
              <a:ext uri="{FF2B5EF4-FFF2-40B4-BE49-F238E27FC236}">
                <a16:creationId xmlns:a16="http://schemas.microsoft.com/office/drawing/2014/main" id="{FE6AE84B-F8CA-3192-5D31-4BC8604BE580}"/>
              </a:ext>
            </a:extLst>
          </p:cNvPr>
          <p:cNvSpPr txBox="1"/>
          <p:nvPr/>
        </p:nvSpPr>
        <p:spPr>
          <a:xfrm>
            <a:off x="832104" y="3575304"/>
            <a:ext cx="4791456" cy="2062103"/>
          </a:xfrm>
          <a:prstGeom prst="rect">
            <a:avLst/>
          </a:prstGeom>
          <a:noFill/>
        </p:spPr>
        <p:txBody>
          <a:bodyPr wrap="square" rtlCol="0">
            <a:spAutoFit/>
          </a:bodyPr>
          <a:lstStyle/>
          <a:p>
            <a:pPr marL="285750" indent="-285750">
              <a:buFont typeface="Arial" panose="020B0604020202020204" pitchFamily="34" charset="0"/>
              <a:buChar char="•"/>
            </a:pPr>
            <a:r>
              <a:rPr lang="es-ES" sz="1600" b="1" dirty="0"/>
              <a:t>Despliegue restringido </a:t>
            </a:r>
            <a:r>
              <a:rPr lang="es-ES" sz="1600" dirty="0"/>
              <a:t>(orientado a organizaciones concretas y entornos de pruebas)</a:t>
            </a:r>
          </a:p>
          <a:p>
            <a:pPr marL="285750" indent="-285750">
              <a:buFont typeface="Arial" panose="020B0604020202020204" pitchFamily="34" charset="0"/>
              <a:buChar char="•"/>
            </a:pPr>
            <a:r>
              <a:rPr lang="es-ES" sz="1600" b="1" dirty="0"/>
              <a:t>Integración limitada </a:t>
            </a:r>
            <a:r>
              <a:rPr lang="es-ES" sz="1600" dirty="0"/>
              <a:t>(no hay integración son sistemas externos de identidad o directorios)</a:t>
            </a:r>
          </a:p>
          <a:p>
            <a:pPr marL="285750" indent="-285750">
              <a:buFont typeface="Arial" panose="020B0604020202020204" pitchFamily="34" charset="0"/>
              <a:buChar char="•"/>
            </a:pPr>
            <a:r>
              <a:rPr lang="es-ES" sz="1600" b="1" dirty="0"/>
              <a:t>Auditoría avanzada </a:t>
            </a:r>
            <a:r>
              <a:rPr lang="es-ES" sz="1600" dirty="0"/>
              <a:t>(no existen por el momento mecanismos de auditoría externa o independiente)</a:t>
            </a:r>
          </a:p>
          <a:p>
            <a:pPr marL="285750" indent="-285750">
              <a:buFont typeface="Arial" panose="020B0604020202020204" pitchFamily="34" charset="0"/>
              <a:buChar char="•"/>
            </a:pPr>
            <a:r>
              <a:rPr lang="es-ES" sz="1600" b="1" dirty="0"/>
              <a:t>Escalabilidad pendiente </a:t>
            </a:r>
            <a:r>
              <a:rPr lang="es-ES" sz="1600" dirty="0"/>
              <a:t>(no hay pruebas de carga en escenarios masivos)</a:t>
            </a:r>
            <a:endParaRPr lang="es-ES" sz="1600" b="1" dirty="0"/>
          </a:p>
        </p:txBody>
      </p:sp>
      <p:sp>
        <p:nvSpPr>
          <p:cNvPr id="14" name="CuadroTexto 13">
            <a:extLst>
              <a:ext uri="{FF2B5EF4-FFF2-40B4-BE49-F238E27FC236}">
                <a16:creationId xmlns:a16="http://schemas.microsoft.com/office/drawing/2014/main" id="{34CF06C2-D2C2-4F5D-B860-19F8C56A5382}"/>
              </a:ext>
            </a:extLst>
          </p:cNvPr>
          <p:cNvSpPr txBox="1"/>
          <p:nvPr/>
        </p:nvSpPr>
        <p:spPr>
          <a:xfrm>
            <a:off x="6443830" y="3333460"/>
            <a:ext cx="4916065" cy="3046988"/>
          </a:xfrm>
          <a:prstGeom prst="rect">
            <a:avLst/>
          </a:prstGeom>
          <a:noFill/>
        </p:spPr>
        <p:txBody>
          <a:bodyPr wrap="square" rtlCol="0">
            <a:spAutoFit/>
          </a:bodyPr>
          <a:lstStyle/>
          <a:p>
            <a:pPr marL="285750" indent="-285750">
              <a:buFont typeface="Arial" panose="020B0604020202020204" pitchFamily="34" charset="0"/>
              <a:buChar char="•"/>
            </a:pPr>
            <a:r>
              <a:rPr lang="es-ES" sz="1600" b="1" dirty="0"/>
              <a:t>Integración con identidad institucional </a:t>
            </a:r>
            <a:r>
              <a:rPr lang="es-ES" sz="1600" dirty="0"/>
              <a:t>(no hay integración con servicios de identidad corporativos)</a:t>
            </a:r>
          </a:p>
          <a:p>
            <a:pPr marL="285750" indent="-285750">
              <a:buFont typeface="Arial" panose="020B0604020202020204" pitchFamily="34" charset="0"/>
              <a:buChar char="•"/>
            </a:pPr>
            <a:r>
              <a:rPr lang="es-ES" sz="1600" b="1" dirty="0"/>
              <a:t>Auditoría externa </a:t>
            </a:r>
            <a:r>
              <a:rPr lang="es-ES" sz="1600" dirty="0"/>
              <a:t>(No hay mecanismos de auditoría externa independiente. Rol que gestione esta acción)</a:t>
            </a:r>
          </a:p>
          <a:p>
            <a:pPr marL="285750" indent="-285750">
              <a:buFont typeface="Arial" panose="020B0604020202020204" pitchFamily="34" charset="0"/>
              <a:buChar char="•"/>
            </a:pPr>
            <a:r>
              <a:rPr lang="es-ES" sz="1600" b="1" dirty="0"/>
              <a:t>Nuevos tipos de votación </a:t>
            </a:r>
            <a:r>
              <a:rPr lang="es-ES" sz="1600" dirty="0"/>
              <a:t>(Ampliar a más tipos de votaciones de los actuales)</a:t>
            </a:r>
          </a:p>
          <a:p>
            <a:pPr marL="285750" indent="-285750">
              <a:buFont typeface="Arial" panose="020B0604020202020204" pitchFamily="34" charset="0"/>
              <a:buChar char="•"/>
            </a:pPr>
            <a:r>
              <a:rPr lang="es-ES" sz="1600" b="1" dirty="0"/>
              <a:t>Gestionar varias mesas electorales </a:t>
            </a:r>
            <a:r>
              <a:rPr lang="es-ES" sz="1600" dirty="0"/>
              <a:t>(Ampliar a votación para que tenga distintas mesas electorales)</a:t>
            </a:r>
          </a:p>
          <a:p>
            <a:pPr marL="285750" indent="-285750">
              <a:buFont typeface="Arial" panose="020B0604020202020204" pitchFamily="34" charset="0"/>
              <a:buChar char="•"/>
            </a:pPr>
            <a:r>
              <a:rPr lang="es-ES" sz="1600" b="1" dirty="0"/>
              <a:t>Despliegue en producción </a:t>
            </a:r>
            <a:r>
              <a:rPr lang="es-ES" sz="1600" dirty="0"/>
              <a:t>(Preparar la infraestructura para su explotación en entorno de producción)</a:t>
            </a:r>
            <a:endParaRPr lang="es-ES" sz="1600" b="1" dirty="0"/>
          </a:p>
          <a:p>
            <a:pPr marL="285750" indent="-285750">
              <a:buFont typeface="Arial" panose="020B0604020202020204" pitchFamily="34" charset="0"/>
              <a:buChar char="•"/>
            </a:pPr>
            <a:endParaRPr lang="es-ES" sz="1600" b="1" dirty="0"/>
          </a:p>
        </p:txBody>
      </p:sp>
    </p:spTree>
    <p:extLst>
      <p:ext uri="{BB962C8B-B14F-4D97-AF65-F5344CB8AC3E}">
        <p14:creationId xmlns:p14="http://schemas.microsoft.com/office/powerpoint/2010/main" val="4007817679"/>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D005-5C34-163C-4EBE-221506C350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647515-CBA6-8718-5150-4C1ACF87DDE8}"/>
              </a:ext>
            </a:extLst>
          </p:cNvPr>
          <p:cNvSpPr>
            <a:spLocks noGrp="1"/>
          </p:cNvSpPr>
          <p:nvPr>
            <p:ph type="ctrTitle"/>
          </p:nvPr>
        </p:nvSpPr>
        <p:spPr>
          <a:xfrm>
            <a:off x="1547091" y="489524"/>
            <a:ext cx="9097818" cy="609600"/>
          </a:xfrm>
          <a:solidFill>
            <a:srgbClr val="1F4E79"/>
          </a:solidFill>
        </p:spPr>
        <p:txBody>
          <a:bodyPr>
            <a:noAutofit/>
          </a:bodyPr>
          <a:lstStyle/>
          <a:p>
            <a:r>
              <a:rPr lang="es-ES" sz="4400" dirty="0">
                <a:solidFill>
                  <a:schemeClr val="bg1"/>
                </a:solidFill>
              </a:rPr>
              <a:t>CONCLUSIONES</a:t>
            </a:r>
          </a:p>
        </p:txBody>
      </p:sp>
      <p:sp>
        <p:nvSpPr>
          <p:cNvPr id="3" name="Subtítulo 2">
            <a:extLst>
              <a:ext uri="{FF2B5EF4-FFF2-40B4-BE49-F238E27FC236}">
                <a16:creationId xmlns:a16="http://schemas.microsoft.com/office/drawing/2014/main" id="{4456F53A-28A1-FD5C-2CDD-ACD4E99B8026}"/>
              </a:ext>
            </a:extLst>
          </p:cNvPr>
          <p:cNvSpPr>
            <a:spLocks noGrp="1"/>
          </p:cNvSpPr>
          <p:nvPr>
            <p:ph type="subTitle" idx="1"/>
          </p:nvPr>
        </p:nvSpPr>
        <p:spPr>
          <a:xfrm>
            <a:off x="1477818" y="257128"/>
            <a:ext cx="9144000" cy="223161"/>
          </a:xfrm>
        </p:spPr>
        <p:txBody>
          <a:bodyPr>
            <a:noAutofit/>
          </a:bodyPr>
          <a:lstStyle/>
          <a:p>
            <a:r>
              <a:rPr lang="es-ES" sz="1200" dirty="0">
                <a:latin typeface="Aptos" panose="020B0004020202020204" pitchFamily="34" charset="0"/>
              </a:rPr>
              <a:t>TeleVotApp – Sistema de Votación Telemática Certificada</a:t>
            </a:r>
          </a:p>
        </p:txBody>
      </p:sp>
      <p:sp>
        <p:nvSpPr>
          <p:cNvPr id="4" name="Marcador de pie de página 3">
            <a:extLst>
              <a:ext uri="{FF2B5EF4-FFF2-40B4-BE49-F238E27FC236}">
                <a16:creationId xmlns:a16="http://schemas.microsoft.com/office/drawing/2014/main" id="{9B26D692-E797-5520-8359-08EB86A18B9A}"/>
              </a:ext>
            </a:extLst>
          </p:cNvPr>
          <p:cNvSpPr>
            <a:spLocks noGrp="1"/>
          </p:cNvSpPr>
          <p:nvPr>
            <p:ph type="ftr" sz="quarter" idx="11"/>
          </p:nvPr>
        </p:nvSpPr>
        <p:spPr>
          <a:xfrm>
            <a:off x="258618" y="6356350"/>
            <a:ext cx="11582400" cy="365125"/>
          </a:xfrm>
          <a:solidFill>
            <a:schemeClr val="bg1">
              <a:lumMod val="95000"/>
            </a:schemeClr>
          </a:solidFill>
        </p:spPr>
        <p:txBody>
          <a:bodyPr/>
          <a:lstStyle/>
          <a:p>
            <a:pPr algn="r"/>
            <a:r>
              <a:rPr lang="es-ES" dirty="0"/>
              <a:t>       Samir Alonso García  |  TFG Ingeniería informática                                                                                                                                                                                                                                    </a:t>
            </a:r>
            <a:fld id="{3445E56A-E3DC-453B-8218-65FD7A4793C7}" type="slidenum">
              <a:rPr lang="es-ES" smtClean="0"/>
              <a:pPr algn="r"/>
              <a:t>16</a:t>
            </a:fld>
            <a:endParaRPr lang="es-ES" dirty="0"/>
          </a:p>
        </p:txBody>
      </p:sp>
      <p:cxnSp>
        <p:nvCxnSpPr>
          <p:cNvPr id="6" name="Conector recto 5">
            <a:extLst>
              <a:ext uri="{FF2B5EF4-FFF2-40B4-BE49-F238E27FC236}">
                <a16:creationId xmlns:a16="http://schemas.microsoft.com/office/drawing/2014/main" id="{97BCF906-A2D0-A846-319D-596D86C7435C}"/>
              </a:ext>
            </a:extLst>
          </p:cNvPr>
          <p:cNvCxnSpPr>
            <a:cxnSpLocks/>
          </p:cNvCxnSpPr>
          <p:nvPr/>
        </p:nvCxnSpPr>
        <p:spPr>
          <a:xfrm>
            <a:off x="0" y="116377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8ABF10BA-9319-3E4F-EFC6-DFF1DA8DED70}"/>
              </a:ext>
            </a:extLst>
          </p:cNvPr>
          <p:cNvSpPr/>
          <p:nvPr/>
        </p:nvSpPr>
        <p:spPr>
          <a:xfrm>
            <a:off x="3319034" y="1371595"/>
            <a:ext cx="5019965" cy="951337"/>
          </a:xfrm>
          <a:prstGeom prst="roundRect">
            <a:avLst/>
          </a:prstGeom>
          <a:noFill/>
          <a:ln w="2540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3A6FA974-C141-3C79-2C62-0CC21B7F170A}"/>
              </a:ext>
            </a:extLst>
          </p:cNvPr>
          <p:cNvSpPr txBox="1"/>
          <p:nvPr/>
        </p:nvSpPr>
        <p:spPr>
          <a:xfrm>
            <a:off x="3359593" y="1387510"/>
            <a:ext cx="4938846" cy="954107"/>
          </a:xfrm>
          <a:prstGeom prst="rect">
            <a:avLst/>
          </a:prstGeom>
          <a:noFill/>
        </p:spPr>
        <p:txBody>
          <a:bodyPr wrap="square" rtlCol="0">
            <a:spAutoFit/>
          </a:bodyPr>
          <a:lstStyle/>
          <a:p>
            <a:r>
              <a:rPr lang="es-ES" sz="1400" dirty="0">
                <a:latin typeface="Aptos" panose="020B0004020202020204" pitchFamily="34" charset="0"/>
              </a:rPr>
              <a:t>TeleVotApp permite gestionar de forma integral un proceso electoral telemático certificado mediante una plataforma web basada en roles y mecanismos de validación mediante certificados digitales</a:t>
            </a:r>
          </a:p>
        </p:txBody>
      </p:sp>
      <p:sp>
        <p:nvSpPr>
          <p:cNvPr id="8" name="Rectángulo: esquinas redondeadas 7">
            <a:extLst>
              <a:ext uri="{FF2B5EF4-FFF2-40B4-BE49-F238E27FC236}">
                <a16:creationId xmlns:a16="http://schemas.microsoft.com/office/drawing/2014/main" id="{0C9B6B7D-076E-F108-0CAD-E8C522FE280C}"/>
              </a:ext>
            </a:extLst>
          </p:cNvPr>
          <p:cNvSpPr/>
          <p:nvPr/>
        </p:nvSpPr>
        <p:spPr>
          <a:xfrm>
            <a:off x="1226165" y="2831770"/>
            <a:ext cx="2091390" cy="1364145"/>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CuadroTexto 9">
            <a:extLst>
              <a:ext uri="{FF2B5EF4-FFF2-40B4-BE49-F238E27FC236}">
                <a16:creationId xmlns:a16="http://schemas.microsoft.com/office/drawing/2014/main" id="{B27C1951-3766-F425-42AB-2BC871C10F5F}"/>
              </a:ext>
            </a:extLst>
          </p:cNvPr>
          <p:cNvSpPr txBox="1"/>
          <p:nvPr/>
        </p:nvSpPr>
        <p:spPr>
          <a:xfrm>
            <a:off x="1300899" y="3195688"/>
            <a:ext cx="1941922" cy="523220"/>
          </a:xfrm>
          <a:prstGeom prst="rect">
            <a:avLst/>
          </a:prstGeom>
          <a:noFill/>
        </p:spPr>
        <p:txBody>
          <a:bodyPr wrap="square" rtlCol="0">
            <a:spAutoFit/>
          </a:bodyPr>
          <a:lstStyle/>
          <a:p>
            <a:pPr algn="ctr"/>
            <a:r>
              <a:rPr lang="es-ES" sz="1400" dirty="0">
                <a:latin typeface="Aptos" panose="020B0004020202020204" pitchFamily="34" charset="0"/>
              </a:rPr>
              <a:t>Gestión del ciclo electoral completo</a:t>
            </a:r>
          </a:p>
        </p:txBody>
      </p:sp>
      <p:pic>
        <p:nvPicPr>
          <p:cNvPr id="3074" name="Picture 2" descr="Imágenes de Check mark - Descarga gratuita en Magnific (antes Freepik)">
            <a:extLst>
              <a:ext uri="{FF2B5EF4-FFF2-40B4-BE49-F238E27FC236}">
                <a16:creationId xmlns:a16="http://schemas.microsoft.com/office/drawing/2014/main" id="{56F05550-FB0A-E278-BBA1-568E5E412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1577" y="4219054"/>
            <a:ext cx="820566" cy="820566"/>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esquinas redondeadas 10">
            <a:extLst>
              <a:ext uri="{FF2B5EF4-FFF2-40B4-BE49-F238E27FC236}">
                <a16:creationId xmlns:a16="http://schemas.microsoft.com/office/drawing/2014/main" id="{BD83BCB6-A4EF-146F-4462-8182CD9D6B97}"/>
              </a:ext>
            </a:extLst>
          </p:cNvPr>
          <p:cNvSpPr/>
          <p:nvPr/>
        </p:nvSpPr>
        <p:spPr>
          <a:xfrm>
            <a:off x="4947714" y="2831770"/>
            <a:ext cx="2091390" cy="1364145"/>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CuadroTexto 11">
            <a:extLst>
              <a:ext uri="{FF2B5EF4-FFF2-40B4-BE49-F238E27FC236}">
                <a16:creationId xmlns:a16="http://schemas.microsoft.com/office/drawing/2014/main" id="{05B85035-BBE9-FB3F-0164-EC87DE173229}"/>
              </a:ext>
            </a:extLst>
          </p:cNvPr>
          <p:cNvSpPr txBox="1"/>
          <p:nvPr/>
        </p:nvSpPr>
        <p:spPr>
          <a:xfrm>
            <a:off x="5022448" y="3195688"/>
            <a:ext cx="1941922" cy="523220"/>
          </a:xfrm>
          <a:prstGeom prst="rect">
            <a:avLst/>
          </a:prstGeom>
          <a:noFill/>
        </p:spPr>
        <p:txBody>
          <a:bodyPr wrap="square" rtlCol="0">
            <a:spAutoFit/>
          </a:bodyPr>
          <a:lstStyle/>
          <a:p>
            <a:pPr algn="ctr"/>
            <a:r>
              <a:rPr lang="es-ES" sz="1400" dirty="0">
                <a:latin typeface="Aptos" panose="020B0004020202020204" pitchFamily="34" charset="0"/>
              </a:rPr>
              <a:t>Validación mediante certificados</a:t>
            </a:r>
          </a:p>
        </p:txBody>
      </p:sp>
      <p:pic>
        <p:nvPicPr>
          <p:cNvPr id="13" name="Picture 2" descr="Imágenes de Check mark - Descarga gratuita en Magnific (antes Freepik)">
            <a:extLst>
              <a:ext uri="{FF2B5EF4-FFF2-40B4-BE49-F238E27FC236}">
                <a16:creationId xmlns:a16="http://schemas.microsoft.com/office/drawing/2014/main" id="{6447ED40-50E5-C30D-ABD3-F81316F10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3126" y="4219054"/>
            <a:ext cx="820566" cy="820566"/>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esquinas redondeadas 13">
            <a:extLst>
              <a:ext uri="{FF2B5EF4-FFF2-40B4-BE49-F238E27FC236}">
                <a16:creationId xmlns:a16="http://schemas.microsoft.com/office/drawing/2014/main" id="{D61DC5C2-9478-E5A6-D30B-5232E42F4B10}"/>
              </a:ext>
            </a:extLst>
          </p:cNvPr>
          <p:cNvSpPr/>
          <p:nvPr/>
        </p:nvSpPr>
        <p:spPr>
          <a:xfrm>
            <a:off x="8669263" y="2831770"/>
            <a:ext cx="2091390" cy="1364145"/>
          </a:xfrm>
          <a:prstGeom prst="roundRect">
            <a:avLst/>
          </a:prstGeom>
          <a:solidFill>
            <a:schemeClr val="accent1">
              <a:lumMod val="20000"/>
              <a:lumOff val="80000"/>
              <a:alpha val="22000"/>
            </a:schemeClr>
          </a:solidFill>
          <a:ln w="4445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CuadroTexto 14">
            <a:extLst>
              <a:ext uri="{FF2B5EF4-FFF2-40B4-BE49-F238E27FC236}">
                <a16:creationId xmlns:a16="http://schemas.microsoft.com/office/drawing/2014/main" id="{4DD7CEF2-5B99-D247-26F4-B6305596BC94}"/>
              </a:ext>
            </a:extLst>
          </p:cNvPr>
          <p:cNvSpPr txBox="1"/>
          <p:nvPr/>
        </p:nvSpPr>
        <p:spPr>
          <a:xfrm>
            <a:off x="8743997" y="3090062"/>
            <a:ext cx="1941922" cy="738664"/>
          </a:xfrm>
          <a:prstGeom prst="rect">
            <a:avLst/>
          </a:prstGeom>
          <a:noFill/>
        </p:spPr>
        <p:txBody>
          <a:bodyPr wrap="square" rtlCol="0">
            <a:spAutoFit/>
          </a:bodyPr>
          <a:lstStyle/>
          <a:p>
            <a:pPr algn="ctr"/>
            <a:r>
              <a:rPr lang="es-ES" sz="1400" dirty="0">
                <a:latin typeface="Aptos" panose="020B0004020202020204" pitchFamily="34" charset="0"/>
              </a:rPr>
              <a:t>Separación de responsabilidades mediante roles</a:t>
            </a:r>
          </a:p>
        </p:txBody>
      </p:sp>
      <p:pic>
        <p:nvPicPr>
          <p:cNvPr id="16" name="Picture 2" descr="Imágenes de Check mark - Descarga gratuita en Magnific (antes Freepik)">
            <a:extLst>
              <a:ext uri="{FF2B5EF4-FFF2-40B4-BE49-F238E27FC236}">
                <a16:creationId xmlns:a16="http://schemas.microsoft.com/office/drawing/2014/main" id="{77991EA2-DA12-FB20-3BEA-B42FA76CE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4675" y="4219054"/>
            <a:ext cx="820566" cy="820566"/>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164A7F9F-554F-AB17-0051-82A7AFDF68C1}"/>
              </a:ext>
            </a:extLst>
          </p:cNvPr>
          <p:cNvSpPr txBox="1"/>
          <p:nvPr/>
        </p:nvSpPr>
        <p:spPr>
          <a:xfrm>
            <a:off x="258618" y="5879343"/>
            <a:ext cx="11826544" cy="276999"/>
          </a:xfrm>
          <a:prstGeom prst="rect">
            <a:avLst/>
          </a:prstGeom>
          <a:noFill/>
        </p:spPr>
        <p:txBody>
          <a:bodyPr wrap="square" rtlCol="0">
            <a:spAutoFit/>
          </a:bodyPr>
          <a:lstStyle/>
          <a:p>
            <a:r>
              <a:rPr lang="es-ES" sz="1200" dirty="0">
                <a:latin typeface="Aptos" panose="020B0004020202020204" pitchFamily="34" charset="0"/>
              </a:rPr>
              <a:t>Con ello se han alcanzado los objetivos planteados al inicio del proyecto, desarrollando una solución funcional para la gestión de procesos electorales telemáticos certificados.</a:t>
            </a:r>
          </a:p>
        </p:txBody>
      </p:sp>
    </p:spTree>
    <p:extLst>
      <p:ext uri="{BB962C8B-B14F-4D97-AF65-F5344CB8AC3E}">
        <p14:creationId xmlns:p14="http://schemas.microsoft.com/office/powerpoint/2010/main" val="890310993"/>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263C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BE0301F-2643-C5B4-DC0F-C16B2DD00251}"/>
              </a:ext>
            </a:extLst>
          </p:cNvPr>
          <p:cNvSpPr>
            <a:spLocks noGrp="1"/>
          </p:cNvSpPr>
          <p:nvPr>
            <p:ph type="title"/>
          </p:nvPr>
        </p:nvSpPr>
        <p:spPr>
          <a:xfrm>
            <a:off x="838200" y="171162"/>
            <a:ext cx="2840182" cy="2371148"/>
          </a:xfrm>
        </p:spPr>
        <p:txBody>
          <a:bodyPr vert="horz" lIns="91440" tIns="45720" rIns="91440" bIns="45720" rtlCol="0" anchor="ctr">
            <a:normAutofit/>
          </a:bodyPr>
          <a:lstStyle/>
          <a:p>
            <a:pPr algn="ctr"/>
            <a:r>
              <a:rPr lang="en-US" sz="3200" kern="1200" dirty="0">
                <a:solidFill>
                  <a:srgbClr val="FFFFFF"/>
                </a:solidFill>
                <a:latin typeface="+mj-lt"/>
                <a:ea typeface="+mj-ea"/>
                <a:cs typeface="+mj-cs"/>
              </a:rPr>
              <a:t>FIN</a:t>
            </a:r>
          </a:p>
        </p:txBody>
      </p:sp>
      <p:pic>
        <p:nvPicPr>
          <p:cNvPr id="4" name="Marcador de contenido 3">
            <a:extLst>
              <a:ext uri="{FF2B5EF4-FFF2-40B4-BE49-F238E27FC236}">
                <a16:creationId xmlns:a16="http://schemas.microsoft.com/office/drawing/2014/main" id="{6D1C1996-B35B-66D0-05B7-7DE0600CAA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28869" y="969264"/>
            <a:ext cx="5578816" cy="5578816"/>
          </a:xfrm>
          <a:prstGeom prst="rect">
            <a:avLst/>
          </a:prstGeom>
        </p:spPr>
      </p:pic>
      <p:sp>
        <p:nvSpPr>
          <p:cNvPr id="3" name="CuadroTexto 2">
            <a:extLst>
              <a:ext uri="{FF2B5EF4-FFF2-40B4-BE49-F238E27FC236}">
                <a16:creationId xmlns:a16="http://schemas.microsoft.com/office/drawing/2014/main" id="{85BD12C2-7B26-9307-A9A8-FE9775BE08FE}"/>
              </a:ext>
            </a:extLst>
          </p:cNvPr>
          <p:cNvSpPr txBox="1"/>
          <p:nvPr/>
        </p:nvSpPr>
        <p:spPr>
          <a:xfrm>
            <a:off x="4846320" y="365760"/>
            <a:ext cx="5751576" cy="369332"/>
          </a:xfrm>
          <a:prstGeom prst="rect">
            <a:avLst/>
          </a:prstGeom>
          <a:noFill/>
        </p:spPr>
        <p:txBody>
          <a:bodyPr wrap="square" rtlCol="0">
            <a:spAutoFit/>
          </a:bodyPr>
          <a:lstStyle/>
          <a:p>
            <a:r>
              <a:rPr lang="es-ES" dirty="0"/>
              <a:t>MUCHAS GRACIAS POR SU ATENCIÓN</a:t>
            </a:r>
          </a:p>
        </p:txBody>
      </p:sp>
    </p:spTree>
    <p:extLst>
      <p:ext uri="{BB962C8B-B14F-4D97-AF65-F5344CB8AC3E}">
        <p14:creationId xmlns:p14="http://schemas.microsoft.com/office/powerpoint/2010/main" val="14690728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885</TotalTime>
  <Words>885</Words>
  <Application>Microsoft Office PowerPoint</Application>
  <PresentationFormat>Panorámica</PresentationFormat>
  <Paragraphs>158</Paragraphs>
  <Slides>17</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vt:lpstr>
      <vt:lpstr>Arial</vt:lpstr>
      <vt:lpstr>Calibri</vt:lpstr>
      <vt:lpstr>Calibri Light</vt:lpstr>
      <vt:lpstr>Tema de Office</vt:lpstr>
      <vt:lpstr>Presentación de PowerPoint</vt:lpstr>
      <vt:lpstr>MOTIVACIÓN Y PROBLEMA</vt:lpstr>
      <vt:lpstr>OBJETIVOS DEL PROYECTO</vt:lpstr>
      <vt:lpstr>CICLO ELECTORAL COMPLETO</vt:lpstr>
      <vt:lpstr>ARQUITECTURA DEL SISTEMA</vt:lpstr>
      <vt:lpstr>MODELO DE ROLES</vt:lpstr>
      <vt:lpstr>SEGURIDAD DEL PROCESO ELECTORAL</vt:lpstr>
      <vt:lpstr>DISEÑO DE DATOS</vt:lpstr>
      <vt:lpstr>TECNOLOGIAS USADAS</vt:lpstr>
      <vt:lpstr>RESULTADOS OBTENIDOS</vt:lpstr>
      <vt:lpstr>RESULTADOS OBTENIDOS</vt:lpstr>
      <vt:lpstr>RESULTADOS OBTENIDOS</vt:lpstr>
      <vt:lpstr>RESULTADOS OBTENIDOS</vt:lpstr>
      <vt:lpstr>RESULTADOS OBTENIDOS</vt:lpstr>
      <vt:lpstr>LIMITACIONES Y TRABAJO FUTURO</vt:lpstr>
      <vt:lpstr>CONCLUSIONES</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 Alonso García</dc:creator>
  <cp:lastModifiedBy>Samir Alonso García</cp:lastModifiedBy>
  <cp:revision>10</cp:revision>
  <dcterms:created xsi:type="dcterms:W3CDTF">2026-06-05T17:53:53Z</dcterms:created>
  <dcterms:modified xsi:type="dcterms:W3CDTF">2026-06-10T23:18:38Z</dcterms:modified>
</cp:coreProperties>
</file>